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9" r:id="rId4"/>
    <p:sldId id="293" r:id="rId5"/>
    <p:sldId id="299" r:id="rId6"/>
    <p:sldId id="294" r:id="rId7"/>
    <p:sldId id="295" r:id="rId8"/>
    <p:sldId id="296" r:id="rId9"/>
    <p:sldId id="298" r:id="rId10"/>
    <p:sldId id="29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BD89-16D7-4825-AB1D-293A78DED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929F9-9DAE-4F42-9420-CF99C0C68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FA9B-8108-4C86-A088-4A793261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EBF8-8215-4EE1-8018-DB7FC3FF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E84A-A77D-4B2D-B776-30D316C3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45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F7BC-257B-420D-8ECA-B64A8B53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A15B-58A5-49D9-A001-C816D0A0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4FE9D-BA22-4EB8-A76F-0965F394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EA0B-ADA3-42EF-A78F-8C0D9E0F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4EA1-4909-4B98-AAAE-F12B5282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7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D0A-101E-4578-858A-762D6867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1E92-BD3F-46CC-A389-547338AC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8D16-5268-4D2F-9CCC-47D075C4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F5CDC-54BD-4866-94C7-39B38706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B70B-50FD-4135-88A3-0D11D2E1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88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651D-11B9-451C-B29A-9D6DBD11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BD51-7103-4DFA-89FF-531B85348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F315A-C9E7-411F-A4A6-C0B92792B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320F1-E8DC-4D8D-9D9E-8EBAD0B4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EA8F9-42B3-43D0-8FE6-D5F30E0E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E1CBB-3DAC-420C-849A-FD0E3214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50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8AC6-80AD-4A7A-9623-B9AB0DB8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10D27-3150-4875-BD3D-6D2E9A10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9AE51-FBF0-4BC1-8865-6C6537B7F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CDAA3-0D64-416E-9A4C-8AA4B2847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08FAD-82A6-4D1E-AD4B-EC4481ECF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FFDBA-6495-4702-B5A3-8BB46940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014F9-F2C1-41CE-A09D-DFF07DCB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4B870-03C1-40BD-A5FC-0415C4A0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43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D052-0578-4D0C-81EF-FCFEAAED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B3B1B-4EDF-4040-ADCC-51FBDE0E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50C52-0CAC-4EB0-885F-BA6EBDB1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59532-84FD-4CD5-8EE9-7FB13FF2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3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180F5-B6AF-43E0-A57F-E951E37D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9E881-7E7E-4CA9-A884-829FDD9A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337C-D274-417F-B587-3F7CE170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32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9B46-DC7D-4D6C-A6A1-C87BC16B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D243-B1AC-44C5-9568-34B879D9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BD087-79D1-4891-9E91-99A8C1883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3AB04-212A-49C3-A0BD-ABDAA9E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C21EA-4027-4609-A00A-58B674C4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68A5-D192-4A1A-84B3-C5B2EE77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5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BEA8-A413-42EB-A9F5-D60A8CF6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5C81E-EB01-4389-B5FF-87FFB6611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AAA02-2087-410D-AEEC-6C464697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7600C-CA56-440A-98DD-5D58C3BC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675B3-621C-44DF-878F-0412477B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9B112-833A-4F73-9E2B-FF38F646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99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3AD2-67FF-4E49-B8D3-00C4DDA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13C13-8A5C-4CB8-8F03-D991C782E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2A9C-3275-453F-849F-952D22EE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842BB-D534-41AF-9745-C98ABC8E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9AF7-FEB1-43F2-8584-E673FCCC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4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8DA51-A200-458E-8820-4F09B6343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05F22-53D6-46FD-8680-A4AD37198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A0A0-6704-4F89-A264-115DCF20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FAF2-5739-4A9B-B54C-09B743C9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E97E-9814-42E1-A8E0-3E913D04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21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0F18B-A9D4-49CF-B751-A4D57A8A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6132-4227-4BD6-AD21-355F887B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108-0D40-40A0-99FD-6AFB102DC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13BC-9B26-4F41-AE09-2CF1CE820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41AC-9236-49A4-8019-24DF6ECC8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77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D0F0-F5AE-45F1-80D9-51D5D63D7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026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Course 227</a:t>
            </a:r>
            <a:br>
              <a:rPr lang="en-GB" dirty="0"/>
            </a:br>
            <a:r>
              <a:rPr lang="en-GB" dirty="0"/>
              <a:t>Lab 6 – Waveguide Structures</a:t>
            </a:r>
            <a:br>
              <a:rPr lang="en-GB" dirty="0"/>
            </a:br>
            <a:r>
              <a:rPr lang="en-GB" dirty="0"/>
              <a:t>CST Microwave Studio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BA84A-2DD7-4CF2-9482-3139526F1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4159"/>
            <a:ext cx="9144000" cy="1655762"/>
          </a:xfrm>
        </p:spPr>
        <p:txBody>
          <a:bodyPr/>
          <a:lstStyle/>
          <a:p>
            <a:r>
              <a:rPr lang="en-GB" dirty="0"/>
              <a:t>Dr Harry Marks</a:t>
            </a:r>
          </a:p>
          <a:p>
            <a:r>
              <a:rPr lang="en-GB" dirty="0"/>
              <a:t>h.marks@lancaster.ac.uk</a:t>
            </a:r>
          </a:p>
        </p:txBody>
      </p:sp>
    </p:spTree>
    <p:extLst>
      <p:ext uri="{BB962C8B-B14F-4D97-AF65-F5344CB8AC3E}">
        <p14:creationId xmlns:p14="http://schemas.microsoft.com/office/powerpoint/2010/main" val="151775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0A0B-141B-4C6D-B711-BA3B82BC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Objectives: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E2A1-9497-4EF3-9DB8-A8DF37A3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Become more familiar with CST Microwave Studio by simulating new structures: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Be able to identify different modes at the input port.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Finding the cut-off frequency using CST and via calculation.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Calculate Impedance.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36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860E4-6FD8-45D7-A135-A78C50AB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4482"/>
            <a:ext cx="10515600" cy="5542481"/>
          </a:xfrm>
        </p:spPr>
        <p:txBody>
          <a:bodyPr/>
          <a:lstStyle/>
          <a:p>
            <a:r>
              <a:rPr lang="en-GB" dirty="0"/>
              <a:t>Set up a waveguide with inner dimensions a = 4mm, b = 2mm. Set the frequency range as 95-105 GHz. This can be done by clicking on the tab shown below: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9FD45F5-DF12-4495-8E6F-D6CE628C2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126" y="2034244"/>
            <a:ext cx="6963747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6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2A27-9836-4A6F-B55A-DA5C82A5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By clicking on port1 from the left hand menu a pop-up appears. Here you can select the number of modes which </a:t>
            </a:r>
            <a:r>
              <a:rPr lang="en-GB" b="1" i="1" u="sng" dirty="0"/>
              <a:t>can</a:t>
            </a:r>
            <a:r>
              <a:rPr lang="en-GB" dirty="0"/>
              <a:t> be excited at this port.</a:t>
            </a:r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459E1578-B0B6-427E-9F18-788D144AB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22" y="1825625"/>
            <a:ext cx="8418355" cy="4351338"/>
          </a:xfrm>
        </p:spPr>
      </p:pic>
    </p:spTree>
    <p:extLst>
      <p:ext uri="{BB962C8B-B14F-4D97-AF65-F5344CB8AC3E}">
        <p14:creationId xmlns:p14="http://schemas.microsoft.com/office/powerpoint/2010/main" val="85933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C006-8481-40E0-8FF9-C1CCFED7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346464"/>
            <a:ext cx="10515600" cy="1325563"/>
          </a:xfrm>
        </p:spPr>
        <p:txBody>
          <a:bodyPr>
            <a:noAutofit/>
          </a:bodyPr>
          <a:lstStyle/>
          <a:p>
            <a:r>
              <a:rPr lang="en-GB" sz="3600" dirty="0"/>
              <a:t>Reminder: Click on Setup Solver to run the simulation. You can choose which port mode you want to excite. Then click start.</a:t>
            </a:r>
          </a:p>
        </p:txBody>
      </p:sp>
      <p:pic>
        <p:nvPicPr>
          <p:cNvPr id="5" name="Content Placeholder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6B77A6A2-F40F-487B-930B-ABE4342F9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920" y="1853617"/>
            <a:ext cx="5029116" cy="4351338"/>
          </a:xfrm>
        </p:spPr>
      </p:pic>
    </p:spTree>
    <p:extLst>
      <p:ext uri="{BB962C8B-B14F-4D97-AF65-F5344CB8AC3E}">
        <p14:creationId xmlns:p14="http://schemas.microsoft.com/office/powerpoint/2010/main" val="317483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164E-1780-468E-A685-F55EC9B8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</a:t>
            </a:r>
            <a:r>
              <a:rPr lang="en-GB" sz="2400" dirty="0"/>
              <a:t>10</a:t>
            </a:r>
            <a:endParaRPr lang="en-GB" dirty="0"/>
          </a:p>
        </p:txBody>
      </p:sp>
      <p:pic>
        <p:nvPicPr>
          <p:cNvPr id="9" name="Content Placeholder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82EBB5D-DFD6-4017-81B1-2FF058C03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19" y="1825625"/>
            <a:ext cx="9682961" cy="4351338"/>
          </a:xfrm>
        </p:spPr>
      </p:pic>
    </p:spTree>
    <p:extLst>
      <p:ext uri="{BB962C8B-B14F-4D97-AF65-F5344CB8AC3E}">
        <p14:creationId xmlns:p14="http://schemas.microsoft.com/office/powerpoint/2010/main" val="126334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A128-5E7D-43B4-BA20-55A7AEDC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</a:t>
            </a:r>
            <a:r>
              <a:rPr lang="en-GB" sz="2400" dirty="0"/>
              <a:t>20</a:t>
            </a:r>
            <a:endParaRPr lang="en-GB" dirty="0"/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0FC74EF3-2B2E-427C-8B23-78D4987B3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28" y="1825625"/>
            <a:ext cx="9470144" cy="4351338"/>
          </a:xfrm>
        </p:spPr>
      </p:pic>
    </p:spTree>
    <p:extLst>
      <p:ext uri="{BB962C8B-B14F-4D97-AF65-F5344CB8AC3E}">
        <p14:creationId xmlns:p14="http://schemas.microsoft.com/office/powerpoint/2010/main" val="178057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94D4-EB03-44B6-9AF0-513F3151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</a:t>
            </a:r>
            <a:r>
              <a:rPr lang="en-GB" sz="2400" dirty="0"/>
              <a:t>01</a:t>
            </a:r>
            <a:endParaRPr lang="en-GB" dirty="0"/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E168175-5C95-4676-A477-366822134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92" y="1825625"/>
            <a:ext cx="9471816" cy="4351338"/>
          </a:xfrm>
        </p:spPr>
      </p:pic>
    </p:spTree>
    <p:extLst>
      <p:ext uri="{BB962C8B-B14F-4D97-AF65-F5344CB8AC3E}">
        <p14:creationId xmlns:p14="http://schemas.microsoft.com/office/powerpoint/2010/main" val="248611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0845-7848-4EAA-951A-0CEDDF3B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 the details in the purple square in slides 6 and 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0F3FA-5B49-4E05-8D68-F4A09676B6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844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Each mode has a different wave impedance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</m:oMath>
                </a14:m>
                <a:r>
                  <a:rPr lang="en-GB" dirty="0"/>
                  <a:t>).</a:t>
                </a:r>
              </a:p>
              <a:p>
                <a:endParaRPr lang="en-GB" dirty="0"/>
              </a:p>
              <a:p>
                <a:r>
                  <a:rPr lang="en-GB" dirty="0"/>
                  <a:t>Each mode has a different cut-off frequency. </a:t>
                </a:r>
              </a:p>
              <a:p>
                <a:endParaRPr lang="en-GB" dirty="0"/>
              </a:p>
              <a:p>
                <a:r>
                  <a:rPr lang="en-GB" dirty="0"/>
                  <a:t>Make a note of the cut-off frequencies and impedances of the first three TE modes.</a:t>
                </a:r>
              </a:p>
              <a:p>
                <a:endParaRPr lang="en-GB" dirty="0"/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Using the lecture 16 notes compare these values with values </a:t>
                </a:r>
                <a:r>
                  <a:rPr lang="en-GB" b="1" u="sng" dirty="0">
                    <a:solidFill>
                      <a:srgbClr val="FF0000"/>
                    </a:solidFill>
                  </a:rPr>
                  <a:t>you</a:t>
                </a:r>
                <a:r>
                  <a:rPr lang="en-GB" dirty="0">
                    <a:solidFill>
                      <a:srgbClr val="FF0000"/>
                    </a:solidFill>
                  </a:rPr>
                  <a:t> calculate for the cut-off and impedance for these three modes. Include as I have done above a screenshot of the first three modes as well as your calculation for comparison.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0F3FA-5B49-4E05-8D68-F4A09676B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8441"/>
              </a:xfrm>
              <a:blipFill>
                <a:blip r:embed="rId2"/>
                <a:stretch>
                  <a:fillRect l="-1043" t="-2788" r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67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9729C62-0BBE-4BBC-8F4D-32F41C68CD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8255"/>
                <a:ext cx="10515600" cy="1325563"/>
              </a:xfrm>
            </p:spPr>
            <p:txBody>
              <a:bodyPr/>
              <a:lstStyle/>
              <a:p>
                <a:r>
                  <a:rPr lang="en-GB" dirty="0"/>
                  <a:t>Calculating the wave impedance,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9729C62-0BBE-4BBC-8F4D-32F41C68C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8255"/>
                <a:ext cx="10515600" cy="1325563"/>
              </a:xfrm>
              <a:blipFill>
                <a:blip r:embed="rId2"/>
                <a:stretch>
                  <a:fillRect l="-2377" r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45B26-C520-47BD-9DD1-97C0CC4115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8014"/>
                <a:ext cx="10515600" cy="541089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𝜔𝜇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a mode to propagate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GB" dirty="0"/>
                  <a:t> to be real, so: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445B26-C520-47BD-9DD1-97C0CC411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8014"/>
                <a:ext cx="10515600" cy="5410899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29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287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Course 227 Lab 6 – Waveguide Structures CST Microwave Studio </vt:lpstr>
      <vt:lpstr>Objectives:  </vt:lpstr>
      <vt:lpstr>PowerPoint Presentation</vt:lpstr>
      <vt:lpstr>By clicking on port1 from the left hand menu a pop-up appears. Here you can select the number of modes which can be excited at this port.</vt:lpstr>
      <vt:lpstr>Reminder: Click on Setup Solver to run the simulation. You can choose which port mode you want to excite. Then click start.</vt:lpstr>
      <vt:lpstr>TE10</vt:lpstr>
      <vt:lpstr>TE20</vt:lpstr>
      <vt:lpstr>TE01</vt:lpstr>
      <vt:lpstr>Note the details in the purple square in slides 6 and 7.</vt:lpstr>
      <vt:lpstr>Calculating the wave impedance, that is Z_TE,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Marks, Harry</dc:creator>
  <cp:lastModifiedBy>Marks, Harry</cp:lastModifiedBy>
  <cp:revision>46</cp:revision>
  <dcterms:created xsi:type="dcterms:W3CDTF">2021-03-28T08:56:24Z</dcterms:created>
  <dcterms:modified xsi:type="dcterms:W3CDTF">2025-01-28T12:40:44Z</dcterms:modified>
</cp:coreProperties>
</file>