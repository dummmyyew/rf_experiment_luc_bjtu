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81" r:id="rId17"/>
    <p:sldId id="282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3" r:id="rId30"/>
    <p:sldId id="284" r:id="rId31"/>
    <p:sldId id="285" r:id="rId32"/>
    <p:sldId id="287" r:id="rId33"/>
    <p:sldId id="286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7BD89-16D7-4825-AB1D-293A78DED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A929F9-9DAE-4F42-9420-CF99C0C68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2FA9B-8108-4C86-A088-4A793261F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7EBF8-8215-4EE1-8018-DB7FC3FF4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FE84A-A77D-4B2D-B776-30D316C35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7451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2F7BC-257B-420D-8ECA-B64A8B536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AA15B-58A5-49D9-A001-C816D0A0C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4FE9D-BA22-4EB8-A76F-0965F3947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4EA0B-ADA3-42EF-A78F-8C0D9E0F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E54EA1-4909-4B98-AAAE-F12B5282B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7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44D0A-101E-4578-858A-762D68679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71E92-BD3F-46CC-A389-547338ACE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A8D16-5268-4D2F-9CCC-47D075C41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F5CDC-54BD-4866-94C7-39B38706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5B70B-50FD-4135-88A3-0D11D2E13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9880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2651D-11B9-451C-B29A-9D6DBD118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8BD51-7103-4DFA-89FF-531B85348E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3F315A-C9E7-411F-A4A6-C0B92792B5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320F1-E8DC-4D8D-9D9E-8EBAD0B4B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BEA8F9-42B3-43D0-8FE6-D5F30E0EF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E1CBB-3DAC-420C-849A-FD0E3214A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2506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8AC6-80AD-4A7A-9623-B9AB0DB8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210D27-3150-4875-BD3D-6D2E9A104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9AE51-FBF0-4BC1-8865-6C6537B7FB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DCDAA3-0D64-416E-9A4C-8AA4B2847B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808FAD-82A6-4D1E-AD4B-EC4481ECFC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1FFDBA-6495-4702-B5A3-8BB469406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4014F9-F2C1-41CE-A09D-DFF07DCB7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4B870-03C1-40BD-A5FC-0415C4A0D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431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6D052-0578-4D0C-81EF-FCFEAAEDB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5B3B1B-4EDF-4040-ADCC-51FBDE0E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050C52-0CAC-4EB0-885F-BA6EBDB1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159532-84FD-4CD5-8EE9-7FB13FF2D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338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D180F5-B6AF-43E0-A57F-E951E37D6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39E881-7E7E-4CA9-A884-829FDD9A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0337C-D274-417F-B587-3F7CE1705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5320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39B46-DC7D-4D6C-A6A1-C87BC16B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4D243-B1AC-44C5-9568-34B879D93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5BD087-79D1-4891-9E91-99A8C1883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3AB04-212A-49C3-A0BD-ABDAA9E63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1C21EA-4027-4609-A00A-58B674C43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268A5-D192-4A1A-84B3-C5B2EE778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125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9BEA8-A413-42EB-A9F5-D60A8CF60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D5C81E-EB01-4389-B5FF-87FFB66111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0AAA02-2087-410D-AEEC-6C464697B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7600C-CA56-440A-98DD-5D58C3BC9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675B3-621C-44DF-878F-0412477B1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59B112-833A-4F73-9E2B-FF38F6468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990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63AD2-67FF-4E49-B8D3-00C4DDA3D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813C13-8A5C-4CB8-8F03-D991C782E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F2A9C-3275-453F-849F-952D22EE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842BB-D534-41AF-9745-C98ABC8E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39AF7-FEB1-43F2-8584-E673FCCCE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246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88DA51-A200-458E-8820-4F09B6343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005F22-53D6-46FD-8680-A4AD37198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4A0A0-6704-4F89-A264-115DCF20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BFAF2-5739-4A9B-B54C-09B743C90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8E97E-9814-42E1-A8E0-3E913D046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215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10F18B-A9D4-49CF-B751-A4D57A8AB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06132-4227-4BD6-AD21-355F887BBD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D2108-0D40-40A0-99FD-6AFB102DC5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C2E0F-0E0D-44DB-BEDB-1B426C10A2AF}" type="datetimeFigureOut">
              <a:rPr lang="en-GB" smtClean="0"/>
              <a:t>28/01/2025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613BC-9B26-4F41-AE09-2CF1CE820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941AC-9236-49A4-8019-24DF6ECC8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ED1F3E-6930-4229-A9F6-37871BB6D77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6776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BD0F0-F5AE-45F1-80D9-51D5D63D7C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Course 227</a:t>
            </a:r>
            <a:br>
              <a:rPr lang="en-GB" dirty="0"/>
            </a:br>
            <a:r>
              <a:rPr lang="en-GB" dirty="0"/>
              <a:t>Lab 2 – Getting Started with CST Microwave Studio</a:t>
            </a:r>
            <a:br>
              <a:rPr lang="en-GB" dirty="0"/>
            </a:br>
            <a:r>
              <a:rPr lang="en-GB" dirty="0"/>
              <a:t>Task </a:t>
            </a:r>
            <a:r>
              <a:rPr lang="en-GB"/>
              <a:t>for Week 3 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ABA84A-2DD7-4CF2-9482-3139526F1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Dr Harry Marks</a:t>
            </a:r>
          </a:p>
          <a:p>
            <a:r>
              <a:rPr lang="en-GB" dirty="0"/>
              <a:t>h.marks@lancaster.ac.uk</a:t>
            </a:r>
          </a:p>
        </p:txBody>
      </p:sp>
    </p:spTree>
    <p:extLst>
      <p:ext uri="{BB962C8B-B14F-4D97-AF65-F5344CB8AC3E}">
        <p14:creationId xmlns:p14="http://schemas.microsoft.com/office/powerpoint/2010/main" val="1517757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B0A0B-141B-4C6D-B711-BA3B82BC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Objectives: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BE2A1-9497-4EF3-9DB8-A8DF37A39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Learn how to set up a simulation in CST Microwave Studio.</a:t>
            </a:r>
          </a:p>
          <a:p>
            <a:r>
              <a:rPr lang="en-GB" dirty="0"/>
              <a:t>Simulate a section of straight WR10 waveguide.</a:t>
            </a:r>
          </a:p>
          <a:p>
            <a:r>
              <a:rPr lang="en-GB" dirty="0"/>
              <a:t>Learn how to set up ports.</a:t>
            </a:r>
          </a:p>
          <a:p>
            <a:r>
              <a:rPr lang="en-GB" dirty="0"/>
              <a:t>Collect data about the reflection and transmission via the S-parameters.</a:t>
            </a:r>
          </a:p>
          <a:p>
            <a:r>
              <a:rPr lang="en-GB" dirty="0"/>
              <a:t>Understand how to view the E-fields throughout the structure.</a:t>
            </a:r>
          </a:p>
          <a:p>
            <a:r>
              <a:rPr lang="en-GB" dirty="0"/>
              <a:t>Simulate for Part 2 of your final report an H-Plane T-Junction using the knowledge of CST you have just gained.</a:t>
            </a:r>
          </a:p>
        </p:txBody>
      </p:sp>
    </p:spTree>
    <p:extLst>
      <p:ext uri="{BB962C8B-B14F-4D97-AF65-F5344CB8AC3E}">
        <p14:creationId xmlns:p14="http://schemas.microsoft.com/office/powerpoint/2010/main" val="984361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26C82-B69B-475E-9348-179FAE081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Once you’ve opened CST, select “Microwaves &amp; RF/Optical”. </a:t>
            </a:r>
          </a:p>
        </p:txBody>
      </p:sp>
      <p:pic>
        <p:nvPicPr>
          <p:cNvPr id="5" name="Content Placeholder 4" descr="Graphical user interface&#10;&#10;Description automatically generated">
            <a:extLst>
              <a:ext uri="{FF2B5EF4-FFF2-40B4-BE49-F238E27FC236}">
                <a16:creationId xmlns:a16="http://schemas.microsoft.com/office/drawing/2014/main" id="{B4B16E7A-C766-4B35-A495-AF96EC5ACA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1965" y="1690688"/>
            <a:ext cx="7408204" cy="5194316"/>
          </a:xfrm>
        </p:spPr>
      </p:pic>
    </p:spTree>
    <p:extLst>
      <p:ext uri="{BB962C8B-B14F-4D97-AF65-F5344CB8AC3E}">
        <p14:creationId xmlns:p14="http://schemas.microsoft.com/office/powerpoint/2010/main" val="3658684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2504A-B44F-44AE-BC17-29F1D425F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 Antennas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48C2A1-3992-4ACB-B85C-BAD26A77C6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845" y="1690688"/>
            <a:ext cx="7798813" cy="5167312"/>
          </a:xfrm>
        </p:spPr>
      </p:pic>
    </p:spTree>
    <p:extLst>
      <p:ext uri="{BB962C8B-B14F-4D97-AF65-F5344CB8AC3E}">
        <p14:creationId xmlns:p14="http://schemas.microsoft.com/office/powerpoint/2010/main" val="2041672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96B7A-6716-4E5F-8020-489C9AB57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 Waveguide</a:t>
            </a:r>
          </a:p>
        </p:txBody>
      </p:sp>
      <p:pic>
        <p:nvPicPr>
          <p:cNvPr id="5" name="Content Placeholder 4" descr="Graphical user interface&#10;&#10;Description automatically generated">
            <a:extLst>
              <a:ext uri="{FF2B5EF4-FFF2-40B4-BE49-F238E27FC236}">
                <a16:creationId xmlns:a16="http://schemas.microsoft.com/office/drawing/2014/main" id="{5A38FE05-8ED3-450B-AE65-5571655A6C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785" y="1690688"/>
            <a:ext cx="7442430" cy="5150002"/>
          </a:xfrm>
        </p:spPr>
      </p:pic>
    </p:spTree>
    <p:extLst>
      <p:ext uri="{BB962C8B-B14F-4D97-AF65-F5344CB8AC3E}">
        <p14:creationId xmlns:p14="http://schemas.microsoft.com/office/powerpoint/2010/main" val="2430841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C766F-9F20-4277-AB9B-4F8692DE6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the suggested units.</a:t>
            </a: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AB323B7-8D3A-4326-BA7A-95B2C98ADD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912" y="1825625"/>
            <a:ext cx="6384176" cy="4351338"/>
          </a:xfrm>
        </p:spPr>
      </p:pic>
    </p:spTree>
    <p:extLst>
      <p:ext uri="{BB962C8B-B14F-4D97-AF65-F5344CB8AC3E}">
        <p14:creationId xmlns:p14="http://schemas.microsoft.com/office/powerpoint/2010/main" val="4021556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4D459-CD4A-4F2B-AE9D-FBF20BD5D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Enter this frequency range:</a:t>
            </a:r>
          </a:p>
        </p:txBody>
      </p:sp>
      <p:pic>
        <p:nvPicPr>
          <p:cNvPr id="5" name="Content Placeholder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EA1AB6DA-702B-44B7-A30B-4BF13D4AE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4480" y="1825625"/>
            <a:ext cx="7563040" cy="4351338"/>
          </a:xfrm>
        </p:spPr>
      </p:pic>
    </p:spTree>
    <p:extLst>
      <p:ext uri="{BB962C8B-B14F-4D97-AF65-F5344CB8AC3E}">
        <p14:creationId xmlns:p14="http://schemas.microsoft.com/office/powerpoint/2010/main" val="1294378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69536-6824-4DC2-8E7D-41335B7EE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Name the Project Template.</a:t>
            </a:r>
          </a:p>
        </p:txBody>
      </p:sp>
      <p:pic>
        <p:nvPicPr>
          <p:cNvPr id="5" name="Content Placeholder 4" descr="Graphical user interface, text, email&#10;&#10;Description automatically generated">
            <a:extLst>
              <a:ext uri="{FF2B5EF4-FFF2-40B4-BE49-F238E27FC236}">
                <a16:creationId xmlns:a16="http://schemas.microsoft.com/office/drawing/2014/main" id="{B989B9BA-07CA-4F67-A6D2-F383E1C3A0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6065" y="1825625"/>
            <a:ext cx="5579870" cy="4351338"/>
          </a:xfrm>
        </p:spPr>
      </p:pic>
    </p:spTree>
    <p:extLst>
      <p:ext uri="{BB962C8B-B14F-4D97-AF65-F5344CB8AC3E}">
        <p14:creationId xmlns:p14="http://schemas.microsoft.com/office/powerpoint/2010/main" val="607219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B8D8-5FEA-4567-BF83-752D1828D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 the “Modelling” menu and select “Brick”.</a:t>
            </a: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5C35CD6-C74B-4A82-B049-D17D448435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844298" cy="4951526"/>
          </a:xfrm>
        </p:spPr>
      </p:pic>
    </p:spTree>
    <p:extLst>
      <p:ext uri="{BB962C8B-B14F-4D97-AF65-F5344CB8AC3E}">
        <p14:creationId xmlns:p14="http://schemas.microsoft.com/office/powerpoint/2010/main" val="259732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C0EFA-B575-4AF3-A3BF-BC8FC5A1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Double click to begin drawing the brick. Double click again to draw a rectangle. Then extend this out and double click again.</a:t>
            </a:r>
          </a:p>
        </p:txBody>
      </p:sp>
      <p:pic>
        <p:nvPicPr>
          <p:cNvPr id="5" name="Content Placeholder 4" descr="A picture containing table&#10;&#10;Description automatically generated">
            <a:extLst>
              <a:ext uri="{FF2B5EF4-FFF2-40B4-BE49-F238E27FC236}">
                <a16:creationId xmlns:a16="http://schemas.microsoft.com/office/drawing/2014/main" id="{B12B5B5D-B1FC-49EA-8FEB-3BA96440E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6014" y="1825625"/>
            <a:ext cx="9179971" cy="4351338"/>
          </a:xfrm>
        </p:spPr>
      </p:pic>
    </p:spTree>
    <p:extLst>
      <p:ext uri="{BB962C8B-B14F-4D97-AF65-F5344CB8AC3E}">
        <p14:creationId xmlns:p14="http://schemas.microsoft.com/office/powerpoint/2010/main" val="2627258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28E3D-A90F-435B-ADDB-07FFE0C70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menu will appear. Enter the dimensions shown below:</a:t>
            </a:r>
          </a:p>
        </p:txBody>
      </p:sp>
      <p:pic>
        <p:nvPicPr>
          <p:cNvPr id="5" name="Content Placeholder 4" descr="Graphical user interface&#10;&#10;Description automatically generated">
            <a:extLst>
              <a:ext uri="{FF2B5EF4-FFF2-40B4-BE49-F238E27FC236}">
                <a16:creationId xmlns:a16="http://schemas.microsoft.com/office/drawing/2014/main" id="{F2C95D41-15CB-43C1-99C9-D4C275212C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678" y="2019817"/>
            <a:ext cx="8192643" cy="3962953"/>
          </a:xfrm>
        </p:spPr>
      </p:pic>
    </p:spTree>
    <p:extLst>
      <p:ext uri="{BB962C8B-B14F-4D97-AF65-F5344CB8AC3E}">
        <p14:creationId xmlns:p14="http://schemas.microsoft.com/office/powerpoint/2010/main" val="3027267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B07C-2A38-4045-821C-0B8C3F583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new object can be viewed from different angles.</a:t>
            </a:r>
          </a:p>
        </p:txBody>
      </p:sp>
      <p:pic>
        <p:nvPicPr>
          <p:cNvPr id="9" name="Content Placeholder 8" descr="Diagram, engineering drawing&#10;&#10;Description automatically generated">
            <a:extLst>
              <a:ext uri="{FF2B5EF4-FFF2-40B4-BE49-F238E27FC236}">
                <a16:creationId xmlns:a16="http://schemas.microsoft.com/office/drawing/2014/main" id="{04379EF8-7F22-4B46-BF23-6AF6237FAF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358" y="1825625"/>
            <a:ext cx="8819283" cy="4351338"/>
          </a:xfrm>
        </p:spPr>
      </p:pic>
    </p:spTree>
    <p:extLst>
      <p:ext uri="{BB962C8B-B14F-4D97-AF65-F5344CB8AC3E}">
        <p14:creationId xmlns:p14="http://schemas.microsoft.com/office/powerpoint/2010/main" val="1018616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FBE8A-4C87-41AD-B5F5-771401B0E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669" y="365125"/>
            <a:ext cx="11694253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We have a solid shape. To create a waveguide we need to create a second structure. Select “Modelling”, then “Brick”, then draw a shape as before.</a:t>
            </a:r>
          </a:p>
        </p:txBody>
      </p:sp>
      <p:pic>
        <p:nvPicPr>
          <p:cNvPr id="5" name="Content Placeholder 4" descr="Graphical user interface, engineering drawing&#10;&#10;Description automatically generated">
            <a:extLst>
              <a:ext uri="{FF2B5EF4-FFF2-40B4-BE49-F238E27FC236}">
                <a16:creationId xmlns:a16="http://schemas.microsoft.com/office/drawing/2014/main" id="{8FF7407B-2743-4C25-B054-52C8215FC7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6595" y="2011712"/>
            <a:ext cx="8785135" cy="4351338"/>
          </a:xfrm>
        </p:spPr>
      </p:pic>
    </p:spTree>
    <p:extLst>
      <p:ext uri="{BB962C8B-B14F-4D97-AF65-F5344CB8AC3E}">
        <p14:creationId xmlns:p14="http://schemas.microsoft.com/office/powerpoint/2010/main" val="177551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DF8B8-F584-4447-8649-85AD6C28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Please note the dimensions. A WR10 waveguide has internal dimensions 2.54 mm by 1.27 mm.</a:t>
            </a:r>
          </a:p>
        </p:txBody>
      </p:sp>
      <p:pic>
        <p:nvPicPr>
          <p:cNvPr id="5" name="Content Placeholder 4" descr="Diagram, engineering drawing&#10;&#10;Description automatically generated">
            <a:extLst>
              <a:ext uri="{FF2B5EF4-FFF2-40B4-BE49-F238E27FC236}">
                <a16:creationId xmlns:a16="http://schemas.microsoft.com/office/drawing/2014/main" id="{25BA4E63-3B35-4B63-9077-E0AFFF48AF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81325"/>
            <a:ext cx="10515600" cy="4039938"/>
          </a:xfrm>
        </p:spPr>
      </p:pic>
    </p:spTree>
    <p:extLst>
      <p:ext uri="{BB962C8B-B14F-4D97-AF65-F5344CB8AC3E}">
        <p14:creationId xmlns:p14="http://schemas.microsoft.com/office/powerpoint/2010/main" val="2859791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70E4C-6160-4138-9596-F3C053591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One structure is sitting on top of the other. To create a wave guide we need to subtract one from the other.</a:t>
            </a:r>
          </a:p>
        </p:txBody>
      </p:sp>
      <p:pic>
        <p:nvPicPr>
          <p:cNvPr id="5" name="Content Placeholder 4" descr="Graphical user interface, diagram, engineering drawing&#10;&#10;Description automatically generated">
            <a:extLst>
              <a:ext uri="{FF2B5EF4-FFF2-40B4-BE49-F238E27FC236}">
                <a16:creationId xmlns:a16="http://schemas.microsoft.com/office/drawing/2014/main" id="{33FDA174-E194-4F4B-8379-E827952A83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969" y="1825625"/>
            <a:ext cx="8014061" cy="4351338"/>
          </a:xfrm>
        </p:spPr>
      </p:pic>
    </p:spTree>
    <p:extLst>
      <p:ext uri="{BB962C8B-B14F-4D97-AF65-F5344CB8AC3E}">
        <p14:creationId xmlns:p14="http://schemas.microsoft.com/office/powerpoint/2010/main" val="2847563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5425-D2FE-4857-8FE6-91B588FBB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Click on the “Waveguide” component. Then Click “Boolean”. Then select “Subtract”. Then click “w2” and press enter.</a:t>
            </a:r>
          </a:p>
        </p:txBody>
      </p:sp>
      <p:pic>
        <p:nvPicPr>
          <p:cNvPr id="5" name="Content Placeholder 4" descr="Graphical user interface, diagram, application&#10;&#10;Description automatically generated">
            <a:extLst>
              <a:ext uri="{FF2B5EF4-FFF2-40B4-BE49-F238E27FC236}">
                <a16:creationId xmlns:a16="http://schemas.microsoft.com/office/drawing/2014/main" id="{AF08C9B9-F184-4AFD-9CF8-1535CD4235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3180" y="1825625"/>
            <a:ext cx="7545640" cy="4351338"/>
          </a:xfrm>
        </p:spPr>
      </p:pic>
    </p:spTree>
    <p:extLst>
      <p:ext uri="{BB962C8B-B14F-4D97-AF65-F5344CB8AC3E}">
        <p14:creationId xmlns:p14="http://schemas.microsoft.com/office/powerpoint/2010/main" val="394361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EE479-9E33-4585-997F-7D8A0A710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393" y="365125"/>
            <a:ext cx="1171942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Now we have a waveguide. Note in the bottom left it says “Material PEC”. PEC stands for Perfect Electric Conductor.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154B742-82DA-4D1D-ADF2-ED88BFEAF3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580" y="1917904"/>
            <a:ext cx="9944840" cy="4351338"/>
          </a:xfrm>
        </p:spPr>
      </p:pic>
    </p:spTree>
    <p:extLst>
      <p:ext uri="{BB962C8B-B14F-4D97-AF65-F5344CB8AC3E}">
        <p14:creationId xmlns:p14="http://schemas.microsoft.com/office/powerpoint/2010/main" val="3087243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55E04-B97D-4322-AB85-7584EDA5E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now have a 15 mm long section of WR10 waveguide.</a:t>
            </a:r>
          </a:p>
        </p:txBody>
      </p:sp>
      <p:pic>
        <p:nvPicPr>
          <p:cNvPr id="5" name="Content Placeholder 4" descr="Graphical user interface, application, Word, PowerPoint&#10;&#10;Description automatically generated">
            <a:extLst>
              <a:ext uri="{FF2B5EF4-FFF2-40B4-BE49-F238E27FC236}">
                <a16:creationId xmlns:a16="http://schemas.microsoft.com/office/drawing/2014/main" id="{F51CE583-FE6A-429E-84C6-198726757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140" y="1825625"/>
            <a:ext cx="7071720" cy="4351338"/>
          </a:xfrm>
        </p:spPr>
      </p:pic>
    </p:spTree>
    <p:extLst>
      <p:ext uri="{BB962C8B-B14F-4D97-AF65-F5344CB8AC3E}">
        <p14:creationId xmlns:p14="http://schemas.microsoft.com/office/powerpoint/2010/main" val="3045120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30385-8F87-46FD-81F8-709D8A7C2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Now we’re going to define the ports. Click on “Picks” and select the top option. Or press “s”.</a:t>
            </a: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99DA5BA-D39B-4C50-B66C-0CBC00F456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205" y="1825625"/>
            <a:ext cx="7081589" cy="4351338"/>
          </a:xfrm>
        </p:spPr>
      </p:pic>
    </p:spTree>
    <p:extLst>
      <p:ext uri="{BB962C8B-B14F-4D97-AF65-F5344CB8AC3E}">
        <p14:creationId xmlns:p14="http://schemas.microsoft.com/office/powerpoint/2010/main" val="3557735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DB65D-05B1-4148-99FA-332AB308E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Press “s” then select an edge of the port.</a:t>
            </a:r>
          </a:p>
        </p:txBody>
      </p:sp>
      <p:pic>
        <p:nvPicPr>
          <p:cNvPr id="5" name="Content Placeholder 4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88290A3C-597B-4F47-B5AF-4F1854C51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637" y="1825625"/>
            <a:ext cx="8764726" cy="4351338"/>
          </a:xfrm>
        </p:spPr>
      </p:pic>
    </p:spTree>
    <p:extLst>
      <p:ext uri="{BB962C8B-B14F-4D97-AF65-F5344CB8AC3E}">
        <p14:creationId xmlns:p14="http://schemas.microsoft.com/office/powerpoint/2010/main" val="1133187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E0F21-44F6-469E-8AD6-0D6234F94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E506359-9AC1-4757-8371-2C2268E844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8594" y="1825625"/>
            <a:ext cx="7014811" cy="4351338"/>
          </a:xfrm>
        </p:spPr>
      </p:pic>
    </p:spTree>
    <p:extLst>
      <p:ext uri="{BB962C8B-B14F-4D97-AF65-F5344CB8AC3E}">
        <p14:creationId xmlns:p14="http://schemas.microsoft.com/office/powerpoint/2010/main" val="20212880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CA3BB-A9E4-45FB-8468-E2C55F578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A2EFADA-B2D4-422F-9C99-B1FBDD1A5D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538" y="1825625"/>
            <a:ext cx="8562924" cy="4351338"/>
          </a:xfrm>
        </p:spPr>
      </p:pic>
    </p:spTree>
    <p:extLst>
      <p:ext uri="{BB962C8B-B14F-4D97-AF65-F5344CB8AC3E}">
        <p14:creationId xmlns:p14="http://schemas.microsoft.com/office/powerpoint/2010/main" val="11486649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ADFAD-7258-4BB3-8967-4F0EEFA48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Port 1 is set up:</a:t>
            </a: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AAB063E3-01EB-4D11-A75A-8F70BB5EFF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992" y="1825625"/>
            <a:ext cx="7032016" cy="4351338"/>
          </a:xfrm>
        </p:spPr>
      </p:pic>
    </p:spTree>
    <p:extLst>
      <p:ext uri="{BB962C8B-B14F-4D97-AF65-F5344CB8AC3E}">
        <p14:creationId xmlns:p14="http://schemas.microsoft.com/office/powerpoint/2010/main" val="540099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FD0EA-CDF3-4C59-B916-715310378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Setting up a port, port 2, at the other end of the waveguide:</a:t>
            </a:r>
          </a:p>
        </p:txBody>
      </p:sp>
      <p:pic>
        <p:nvPicPr>
          <p:cNvPr id="5" name="Content Placeholder 4" descr="Graphical user interface, diagram, PowerPoint&#10;&#10;Description automatically generated">
            <a:extLst>
              <a:ext uri="{FF2B5EF4-FFF2-40B4-BE49-F238E27FC236}">
                <a16:creationId xmlns:a16="http://schemas.microsoft.com/office/drawing/2014/main" id="{25A365AF-D7F4-4C1F-9BD7-491B1AB9C5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539" y="1825625"/>
            <a:ext cx="9056922" cy="4351338"/>
          </a:xfrm>
        </p:spPr>
      </p:pic>
    </p:spTree>
    <p:extLst>
      <p:ext uri="{BB962C8B-B14F-4D97-AF65-F5344CB8AC3E}">
        <p14:creationId xmlns:p14="http://schemas.microsoft.com/office/powerpoint/2010/main" val="6807161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39A77-2385-4A3F-A134-3A9B3FA72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 “Field Monitor”. Note the central frequency is 100 GHz.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E86E04-0D11-44A4-B8CD-8E80BE533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549" y="1825625"/>
            <a:ext cx="9882902" cy="4351338"/>
          </a:xfrm>
        </p:spPr>
      </p:pic>
    </p:spTree>
    <p:extLst>
      <p:ext uri="{BB962C8B-B14F-4D97-AF65-F5344CB8AC3E}">
        <p14:creationId xmlns:p14="http://schemas.microsoft.com/office/powerpoint/2010/main" val="17185913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205E4-4B20-41FE-A70B-2893FBDCA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“Setup Solver”. Select Port 1 as the source and 1 mode. Then click Start.</a:t>
            </a:r>
          </a:p>
        </p:txBody>
      </p:sp>
      <p:pic>
        <p:nvPicPr>
          <p:cNvPr id="5" name="Content Placeholder 4" descr="Graphical user interface&#10;&#10;Description automatically generated">
            <a:extLst>
              <a:ext uri="{FF2B5EF4-FFF2-40B4-BE49-F238E27FC236}">
                <a16:creationId xmlns:a16="http://schemas.microsoft.com/office/drawing/2014/main" id="{098D1C86-7EAF-48E7-830D-B3C665CCAB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723" y="1825625"/>
            <a:ext cx="9646554" cy="4351338"/>
          </a:xfrm>
        </p:spPr>
      </p:pic>
    </p:spTree>
    <p:extLst>
      <p:ext uri="{BB962C8B-B14F-4D97-AF65-F5344CB8AC3E}">
        <p14:creationId xmlns:p14="http://schemas.microsoft.com/office/powerpoint/2010/main" val="5199074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C9867-52B3-42E9-BA87-A72FB2823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field can be viewed in a number of ways.</a:t>
            </a: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1B62705D-7721-4AF0-9076-16E5F4A8D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1142" y="1825625"/>
            <a:ext cx="6929715" cy="4351338"/>
          </a:xfrm>
        </p:spPr>
      </p:pic>
    </p:spTree>
    <p:extLst>
      <p:ext uri="{BB962C8B-B14F-4D97-AF65-F5344CB8AC3E}">
        <p14:creationId xmlns:p14="http://schemas.microsoft.com/office/powerpoint/2010/main" val="4156964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AB65D-F904-4849-BFB1-44FF18449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 can also be animated.</a:t>
            </a: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AEEB117-5C38-4B8D-95F4-5545A9C9B7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0064" y="1825625"/>
            <a:ext cx="6091872" cy="4351338"/>
          </a:xfrm>
        </p:spPr>
      </p:pic>
    </p:spTree>
    <p:extLst>
      <p:ext uri="{BB962C8B-B14F-4D97-AF65-F5344CB8AC3E}">
        <p14:creationId xmlns:p14="http://schemas.microsoft.com/office/powerpoint/2010/main" val="647056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BD25D-8373-4EDF-B916-75C721949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field can also be viewed as a contour plot in different planes.</a:t>
            </a:r>
          </a:p>
        </p:txBody>
      </p:sp>
      <p:pic>
        <p:nvPicPr>
          <p:cNvPr id="5" name="Content Placeholder 4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39886003-1EE1-4A5F-8249-6E0DF4D5F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256" y="1825625"/>
            <a:ext cx="6457488" cy="4351338"/>
          </a:xfrm>
        </p:spPr>
      </p:pic>
    </p:spTree>
    <p:extLst>
      <p:ext uri="{BB962C8B-B14F-4D97-AF65-F5344CB8AC3E}">
        <p14:creationId xmlns:p14="http://schemas.microsoft.com/office/powerpoint/2010/main" val="21044202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4BFFA-2344-41AB-B7C7-2D2BAEFD9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By clicking on the golden arrows the plane at which we are observing the electric field can be changed.</a:t>
            </a:r>
          </a:p>
        </p:txBody>
      </p:sp>
      <p:pic>
        <p:nvPicPr>
          <p:cNvPr id="5" name="Content Placeholder 4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2C58F21E-8F6D-410E-8C80-0B55D7CCF4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719" y="1825625"/>
            <a:ext cx="9462561" cy="4351338"/>
          </a:xfrm>
        </p:spPr>
      </p:pic>
    </p:spTree>
    <p:extLst>
      <p:ext uri="{BB962C8B-B14F-4D97-AF65-F5344CB8AC3E}">
        <p14:creationId xmlns:p14="http://schemas.microsoft.com/office/powerpoint/2010/main" val="40531428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7F145-91AC-433D-ABF8-9301C6551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By selecting “1-D Results” from the menu on the left we can plot the S parameters.</a:t>
            </a:r>
          </a:p>
        </p:txBody>
      </p:sp>
      <p:pic>
        <p:nvPicPr>
          <p:cNvPr id="5" name="Content Placeholder 4" descr="Chart&#10;&#10;Description automatically generated">
            <a:extLst>
              <a:ext uri="{FF2B5EF4-FFF2-40B4-BE49-F238E27FC236}">
                <a16:creationId xmlns:a16="http://schemas.microsoft.com/office/drawing/2014/main" id="{7A3FF423-455E-4D21-8960-4820E98B16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038" y="1825625"/>
            <a:ext cx="9939924" cy="4351338"/>
          </a:xfrm>
        </p:spPr>
      </p:pic>
    </p:spTree>
    <p:extLst>
      <p:ext uri="{BB962C8B-B14F-4D97-AF65-F5344CB8AC3E}">
        <p14:creationId xmlns:p14="http://schemas.microsoft.com/office/powerpoint/2010/main" val="963137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F4D26-C481-44F8-8C2F-3FEDC50C0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Objectives for the Final Report: Part 2</a:t>
            </a:r>
          </a:p>
        </p:txBody>
      </p:sp>
      <p:pic>
        <p:nvPicPr>
          <p:cNvPr id="5" name="Content Placeholder 4" descr="A picture containing text&#10;&#10;Description automatically generated">
            <a:extLst>
              <a:ext uri="{FF2B5EF4-FFF2-40B4-BE49-F238E27FC236}">
                <a16:creationId xmlns:a16="http://schemas.microsoft.com/office/drawing/2014/main" id="{E6EDA786-CEE2-43A1-B39A-3B591BB295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413" y="1584300"/>
            <a:ext cx="4308909" cy="270885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135359-15E9-4162-9BC9-38347383F482}"/>
              </a:ext>
            </a:extLst>
          </p:cNvPr>
          <p:cNvSpPr txBox="1"/>
          <p:nvPr/>
        </p:nvSpPr>
        <p:spPr>
          <a:xfrm>
            <a:off x="838200" y="1690688"/>
            <a:ext cx="603238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Build a simulation of a WR10 H-plane T-junction.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 picture of an H-plane T-junction is shown to the right. Of course, you </a:t>
            </a:r>
            <a:r>
              <a:rPr lang="en-GB" u="sng" dirty="0"/>
              <a:t>do not </a:t>
            </a:r>
            <a:r>
              <a:rPr lang="en-GB" dirty="0"/>
              <a:t>have to include the flanges in the simulation.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Just viewing the interior guide in a semi-transparent way an example simulation is shown in the next slide.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Include in your report: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1D plots of all the scattering parameters, so S11, S12, S21, S13, S31, S23, etc…</a:t>
            </a:r>
            <a:br>
              <a:rPr lang="en-GB" dirty="0"/>
            </a:br>
            <a:r>
              <a:rPr lang="en-GB" dirty="0"/>
              <a:t>Where appropriate plots these on the same graphs (</a:t>
            </a:r>
            <a:r>
              <a:rPr lang="en-GB" u="sng" dirty="0"/>
              <a:t>please don’t produce 9 graphs</a:t>
            </a:r>
            <a:r>
              <a:rPr lang="en-GB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3-D plots in different planes (XY, XZ, YZ).</a:t>
            </a:r>
          </a:p>
        </p:txBody>
      </p:sp>
      <p:pic>
        <p:nvPicPr>
          <p:cNvPr id="8" name="Picture 7" descr="A picture containing athletic game, sport&#10;&#10;Description automatically generated">
            <a:extLst>
              <a:ext uri="{FF2B5EF4-FFF2-40B4-BE49-F238E27FC236}">
                <a16:creationId xmlns:a16="http://schemas.microsoft.com/office/drawing/2014/main" id="{33DE974A-80BC-486A-A42C-C387529B8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0182" y="4285520"/>
            <a:ext cx="3338702" cy="21997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A10447-A94B-4FA6-BDCD-A4791625A2A5}"/>
              </a:ext>
            </a:extLst>
          </p:cNvPr>
          <p:cNvSpPr txBox="1"/>
          <p:nvPr/>
        </p:nvSpPr>
        <p:spPr>
          <a:xfrm>
            <a:off x="318782" y="5385378"/>
            <a:ext cx="714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1371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F45D3-380E-4026-B71B-F07F85FAE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setup of an H-Plane simulation showing the interior walls.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D612D3-CFBC-4721-98DA-A19E5E9C33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0071" y="1825625"/>
            <a:ext cx="8471857" cy="4351338"/>
          </a:xfrm>
        </p:spPr>
      </p:pic>
    </p:spTree>
    <p:extLst>
      <p:ext uri="{BB962C8B-B14F-4D97-AF65-F5344CB8AC3E}">
        <p14:creationId xmlns:p14="http://schemas.microsoft.com/office/powerpoint/2010/main" val="3816033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618</Words>
  <Application>Microsoft Office PowerPoint</Application>
  <PresentationFormat>Widescreen</PresentationFormat>
  <Paragraphs>45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Course 227 Lab 2 – Getting Started with CST Microwave Studio Task for Week 3 </vt:lpstr>
      <vt:lpstr>Objectives:  </vt:lpstr>
      <vt:lpstr>Once you’ve opened CST, select “Microwaves &amp; RF/Optical”. </vt:lpstr>
      <vt:lpstr>Select Antennas </vt:lpstr>
      <vt:lpstr>Select Waveguide</vt:lpstr>
      <vt:lpstr>Use the suggested units.</vt:lpstr>
      <vt:lpstr>Enter this frequency range:</vt:lpstr>
      <vt:lpstr>Name the Project Template.</vt:lpstr>
      <vt:lpstr>Select the “Modelling” menu and select “Brick”.</vt:lpstr>
      <vt:lpstr>Double click to begin drawing the brick. Double click again to draw a rectangle. Then extend this out and double click again.</vt:lpstr>
      <vt:lpstr>A menu will appear. Enter the dimensions shown below:</vt:lpstr>
      <vt:lpstr>Our new object can be viewed from different angles.</vt:lpstr>
      <vt:lpstr>We have a solid shape. To create a waveguide we need to create a second structure. Select “Modelling”, then “Brick”, then draw a shape as before.</vt:lpstr>
      <vt:lpstr>Please note the dimensions. A WR10 waveguide has internal dimensions 2.54 mm by 1.27 mm.</vt:lpstr>
      <vt:lpstr>One structure is sitting on top of the other. To create a wave guide we need to subtract one from the other.</vt:lpstr>
      <vt:lpstr>Click on the “Waveguide” component. Then Click “Boolean”. Then select “Subtract”. Then click “w2” and press enter.</vt:lpstr>
      <vt:lpstr>Now we have a waveguide. Note in the bottom left it says “Material PEC”. PEC stands for Perfect Electric Conductor.</vt:lpstr>
      <vt:lpstr>We now have a 15 mm long section of WR10 waveguide.</vt:lpstr>
      <vt:lpstr>Now we’re going to define the ports. Click on “Picks” and select the top option. Or press “s”.</vt:lpstr>
      <vt:lpstr>Press “s” then select an edge of the port.</vt:lpstr>
      <vt:lpstr>PowerPoint Presentation</vt:lpstr>
      <vt:lpstr>PowerPoint Presentation</vt:lpstr>
      <vt:lpstr>Port 1 is set up:</vt:lpstr>
      <vt:lpstr>Setting up a port, port 2, at the other end of the waveguide:</vt:lpstr>
      <vt:lpstr>Select “Field Monitor”. Note the central frequency is 100 GHz.</vt:lpstr>
      <vt:lpstr>Click “Setup Solver”. Select Port 1 as the source and 1 mode. Then click Start.</vt:lpstr>
      <vt:lpstr>The field can be viewed in a number of ways.</vt:lpstr>
      <vt:lpstr>It can also be animated.</vt:lpstr>
      <vt:lpstr>The field can also be viewed as a contour plot in different planes.</vt:lpstr>
      <vt:lpstr>By clicking on the golden arrows the plane at which we are observing the electric field can be changed.</vt:lpstr>
      <vt:lpstr>By selecting “1-D Results” from the menu on the left we can plot the S parameters.</vt:lpstr>
      <vt:lpstr>Objectives for the Final Report: Part 2</vt:lpstr>
      <vt:lpstr>Example setup of an H-Plane simulation showing the interior walls.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Marks, Harry</dc:creator>
  <cp:lastModifiedBy>Marks, Harry</cp:lastModifiedBy>
  <cp:revision>28</cp:revision>
  <dcterms:created xsi:type="dcterms:W3CDTF">2021-03-28T08:56:24Z</dcterms:created>
  <dcterms:modified xsi:type="dcterms:W3CDTF">2025-01-28T12:33:36Z</dcterms:modified>
</cp:coreProperties>
</file>