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6" r:id="rId2"/>
  </p:sldMasterIdLst>
  <p:notesMasterIdLst>
    <p:notesMasterId r:id="rId27"/>
  </p:notesMasterIdLst>
  <p:sldIdLst>
    <p:sldId id="256" r:id="rId3"/>
    <p:sldId id="257" r:id="rId4"/>
    <p:sldId id="267" r:id="rId5"/>
    <p:sldId id="268" r:id="rId6"/>
    <p:sldId id="269" r:id="rId7"/>
    <p:sldId id="270" r:id="rId8"/>
    <p:sldId id="271" r:id="rId9"/>
    <p:sldId id="266" r:id="rId10"/>
    <p:sldId id="272" r:id="rId11"/>
    <p:sldId id="273" r:id="rId12"/>
    <p:sldId id="274" r:id="rId13"/>
    <p:sldId id="275" r:id="rId14"/>
    <p:sldId id="276" r:id="rId15"/>
    <p:sldId id="259" r:id="rId16"/>
    <p:sldId id="280" r:id="rId17"/>
    <p:sldId id="281" r:id="rId18"/>
    <p:sldId id="282" r:id="rId19"/>
    <p:sldId id="278" r:id="rId20"/>
    <p:sldId id="277" r:id="rId21"/>
    <p:sldId id="279" r:id="rId22"/>
    <p:sldId id="283" r:id="rId23"/>
    <p:sldId id="284" r:id="rId24"/>
    <p:sldId id="285" r:id="rId25"/>
    <p:sldId id="28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16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B7002-6FE1-4A9B-9D24-0973B2DE27DB}" type="datetimeFigureOut">
              <a:rPr lang="en-GB" smtClean="0"/>
              <a:t>28/01/2025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CB124B-3144-4661-8190-1EE7B54C24D3}" type="slidenum">
              <a:rPr lang="en-GB" smtClean="0"/>
              <a:t>‹#›</a:t>
            </a:fld>
            <a:endParaRPr lang="en-GB"/>
          </a:p>
        </p:txBody>
      </p:sp>
    </p:spTree>
    <p:extLst>
      <p:ext uri="{BB962C8B-B14F-4D97-AF65-F5344CB8AC3E}">
        <p14:creationId xmlns:p14="http://schemas.microsoft.com/office/powerpoint/2010/main" val="51991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9" y="1844677"/>
            <a:ext cx="8425184" cy="4752975"/>
          </a:xfrm>
          <a:prstGeom prst="rect">
            <a:avLst/>
          </a:prstGeom>
        </p:spPr>
        <p:txBody>
          <a:bodyPr vert="horz"/>
          <a:lstStyle>
            <a:lvl1pPr>
              <a:defRPr sz="2000">
                <a:solidFill>
                  <a:srgbClr val="666666"/>
                </a:solidFill>
              </a:defRPr>
            </a:lvl1pPr>
            <a:lvl2pPr>
              <a:defRPr sz="1650">
                <a:solidFill>
                  <a:srgbClr val="666666"/>
                </a:solidFill>
              </a:defRPr>
            </a:lvl2pPr>
            <a:lvl3pPr>
              <a:defRPr sz="1500">
                <a:solidFill>
                  <a:srgbClr val="666666"/>
                </a:solidFill>
              </a:defRPr>
            </a:lvl3pPr>
            <a:lvl4pPr>
              <a:defRPr sz="1350">
                <a:solidFill>
                  <a:srgbClr val="666666"/>
                </a:solidFill>
              </a:defRPr>
            </a:lvl4pPr>
            <a:lvl5pPr>
              <a:defRPr sz="1200">
                <a:solidFill>
                  <a:srgbClr val="666666"/>
                </a:solidFill>
              </a:defRPr>
            </a:lvl5pPr>
          </a:lstStyle>
          <a:p>
            <a:pPr lvl="0"/>
            <a:r>
              <a:rPr lang="en-GB" dirty="0"/>
              <a:t>Click to edit Master text styles</a:t>
            </a:r>
          </a:p>
        </p:txBody>
      </p:sp>
    </p:spTree>
    <p:extLst>
      <p:ext uri="{BB962C8B-B14F-4D97-AF65-F5344CB8AC3E}">
        <p14:creationId xmlns:p14="http://schemas.microsoft.com/office/powerpoint/2010/main" val="1721871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7"/>
            <a:ext cx="8425184" cy="4752975"/>
          </a:xfrm>
          <a:prstGeom prst="rect">
            <a:avLst/>
          </a:prstGeom>
        </p:spPr>
        <p:txBody>
          <a:bodyPr vert="horz"/>
          <a:lstStyle>
            <a:lvl1pPr>
              <a:defRPr sz="2000">
                <a:solidFill>
                  <a:srgbClr val="666666"/>
                </a:solidFill>
              </a:defRPr>
            </a:lvl1pPr>
            <a:lvl2pPr>
              <a:defRPr sz="2000">
                <a:solidFill>
                  <a:srgbClr val="666666"/>
                </a:solidFill>
              </a:defRPr>
            </a:lvl2pPr>
            <a:lvl3pPr>
              <a:defRPr sz="2000">
                <a:solidFill>
                  <a:srgbClr val="666666"/>
                </a:solidFill>
              </a:defRPr>
            </a:lvl3pPr>
            <a:lvl4pPr>
              <a:defRPr sz="2000">
                <a:solidFill>
                  <a:srgbClr val="666666"/>
                </a:solidFill>
              </a:defRPr>
            </a:lvl4pPr>
            <a:lvl5pPr>
              <a:defRPr sz="20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6091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7"/>
            <a:ext cx="8425184" cy="4752975"/>
          </a:xfrm>
          <a:prstGeom prst="rect">
            <a:avLst/>
          </a:prstGeom>
        </p:spPr>
        <p:txBody>
          <a:bodyPr vert="horz"/>
          <a:lstStyle>
            <a:lvl1pPr>
              <a:defRPr sz="2000">
                <a:solidFill>
                  <a:srgbClr val="666666"/>
                </a:solidFill>
              </a:defRPr>
            </a:lvl1pPr>
            <a:lvl2pPr>
              <a:defRPr sz="2000">
                <a:solidFill>
                  <a:srgbClr val="666666"/>
                </a:solidFill>
              </a:defRPr>
            </a:lvl2pPr>
            <a:lvl3pPr>
              <a:defRPr sz="2000">
                <a:solidFill>
                  <a:srgbClr val="666666"/>
                </a:solidFill>
              </a:defRPr>
            </a:lvl3pPr>
            <a:lvl4pPr>
              <a:defRPr sz="2000">
                <a:solidFill>
                  <a:srgbClr val="666666"/>
                </a:solidFill>
              </a:defRPr>
            </a:lvl4pPr>
            <a:lvl5pPr>
              <a:defRPr sz="20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38084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90" y="1844677"/>
            <a:ext cx="5400847" cy="4752975"/>
          </a:xfrm>
          <a:prstGeom prst="rect">
            <a:avLst/>
          </a:prstGeom>
        </p:spPr>
        <p:txBody>
          <a:bodyPr vert="horz"/>
          <a:lstStyle>
            <a:lvl1pPr>
              <a:defRPr sz="2000">
                <a:solidFill>
                  <a:srgbClr val="666666"/>
                </a:solidFill>
              </a:defRPr>
            </a:lvl1pPr>
            <a:lvl2pPr>
              <a:defRPr sz="1650">
                <a:solidFill>
                  <a:srgbClr val="666666"/>
                </a:solidFill>
              </a:defRPr>
            </a:lvl2pPr>
            <a:lvl3pPr>
              <a:defRPr sz="1500">
                <a:solidFill>
                  <a:srgbClr val="666666"/>
                </a:solidFill>
              </a:defRPr>
            </a:lvl3pPr>
            <a:lvl4pPr>
              <a:defRPr sz="1350">
                <a:solidFill>
                  <a:srgbClr val="666666"/>
                </a:solidFill>
              </a:defRPr>
            </a:lvl4pPr>
            <a:lvl5pPr>
              <a:defRPr sz="1200">
                <a:solidFill>
                  <a:srgbClr val="666666"/>
                </a:solidFill>
              </a:defRPr>
            </a:lvl5pPr>
          </a:lstStyle>
          <a:p>
            <a:pPr lvl="0"/>
            <a:r>
              <a:rPr lang="en-GB" dirty="0"/>
              <a:t>Click to edit Master text styles</a:t>
            </a:r>
          </a:p>
        </p:txBody>
      </p:sp>
      <p:sp>
        <p:nvSpPr>
          <p:cNvPr id="2" name="TextBox 1"/>
          <p:cNvSpPr txBox="1"/>
          <p:nvPr userDrawn="1"/>
        </p:nvSpPr>
        <p:spPr>
          <a:xfrm>
            <a:off x="3234023" y="3660229"/>
            <a:ext cx="184731" cy="300082"/>
          </a:xfrm>
          <a:prstGeom prst="rect">
            <a:avLst/>
          </a:prstGeom>
          <a:noFill/>
        </p:spPr>
        <p:txBody>
          <a:bodyPr wrap="none" rtlCol="0">
            <a:spAutoFit/>
          </a:bodyPr>
          <a:lstStyle/>
          <a:p>
            <a:endParaRPr lang="en-US" sz="1350" dirty="0">
              <a:solidFill>
                <a:prstClr val="black"/>
              </a:solidFill>
            </a:endParaRPr>
          </a:p>
        </p:txBody>
      </p:sp>
    </p:spTree>
    <p:extLst>
      <p:ext uri="{BB962C8B-B14F-4D97-AF65-F5344CB8AC3E}">
        <p14:creationId xmlns:p14="http://schemas.microsoft.com/office/powerpoint/2010/main" val="4248042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90" y="1844677"/>
            <a:ext cx="5400847" cy="4752975"/>
          </a:xfrm>
          <a:prstGeom prst="rect">
            <a:avLst/>
          </a:prstGeom>
        </p:spPr>
        <p:txBody>
          <a:bodyPr vert="horz"/>
          <a:lstStyle>
            <a:lvl1pPr>
              <a:defRPr sz="2000">
                <a:solidFill>
                  <a:srgbClr val="666666"/>
                </a:solidFill>
              </a:defRPr>
            </a:lvl1pPr>
            <a:lvl2pPr>
              <a:defRPr sz="2000">
                <a:solidFill>
                  <a:srgbClr val="666666"/>
                </a:solidFill>
              </a:defRPr>
            </a:lvl2pPr>
            <a:lvl3pPr>
              <a:defRPr sz="2000">
                <a:solidFill>
                  <a:srgbClr val="666666"/>
                </a:solidFill>
              </a:defRPr>
            </a:lvl3pPr>
            <a:lvl4pPr>
              <a:defRPr sz="2000">
                <a:solidFill>
                  <a:srgbClr val="666666"/>
                </a:solidFill>
              </a:defRPr>
            </a:lvl4pPr>
            <a:lvl5pPr>
              <a:defRPr sz="20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69557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Tree>
    <p:extLst>
      <p:ext uri="{BB962C8B-B14F-4D97-AF65-F5344CB8AC3E}">
        <p14:creationId xmlns:p14="http://schemas.microsoft.com/office/powerpoint/2010/main" val="541057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068627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0C5FE24C-38D4-4870-9101-EB9E441BC23C}" type="datetimeFigureOut">
              <a:rPr lang="en-GB" smtClean="0">
                <a:solidFill>
                  <a:prstClr val="black"/>
                </a:solidFill>
              </a:rPr>
              <a:pPr/>
              <a:t>28/01/2025</a:t>
            </a:fld>
            <a:endParaRPr lang="en-GB">
              <a:solidFill>
                <a:prstClr val="black"/>
              </a:solidFill>
            </a:endParaRPr>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solidFill>
                <a:prstClr val="black"/>
              </a:solidFill>
            </a:endParaRPr>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F19A1344-C9B1-4166-9A12-84679BD6898B}" type="slidenum">
              <a:rPr lang="en-GB" smtClean="0">
                <a:solidFill>
                  <a:prstClr val="black"/>
                </a:solidFill>
              </a:rPr>
              <a:pPr/>
              <a:t>‹#›</a:t>
            </a:fld>
            <a:endParaRPr lang="en-GB">
              <a:solidFill>
                <a:prstClr val="black"/>
              </a:solidFill>
            </a:endParaRPr>
          </a:p>
        </p:txBody>
      </p:sp>
    </p:spTree>
    <p:extLst>
      <p:ext uri="{BB962C8B-B14F-4D97-AF65-F5344CB8AC3E}">
        <p14:creationId xmlns:p14="http://schemas.microsoft.com/office/powerpoint/2010/main" val="245660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8"/>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2FD1D150-533D-495C-8423-E2363DD0C794}" type="datetimeFigureOut">
              <a:rPr lang="en-US" smtClean="0">
                <a:solidFill>
                  <a:prstClr val="black"/>
                </a:solidFill>
              </a:rPr>
              <a:pPr/>
              <a:t>1/28/2025</a:t>
            </a:fld>
            <a:endParaRPr lang="en-US">
              <a:solidFill>
                <a:prstClr val="black"/>
              </a:solidFill>
            </a:endParaRPr>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C1934ABB-53FC-49BA-8E90-BC9452CADFE3}"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64586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3"/>
            <a:ext cx="8208912" cy="1010543"/>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200">
                <a:solidFill>
                  <a:srgbClr val="666666"/>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3385536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900"/>
          </a:xfrm>
          <a:prstGeom prst="rect">
            <a:avLst/>
          </a:prstGeom>
        </p:spPr>
        <p:txBody>
          <a:bodyPr/>
          <a:lstStyle/>
          <a:p>
            <a:r>
              <a:rPr lang="en-US"/>
              <a:t>Click to edit Master title style</a:t>
            </a:r>
            <a:endParaRPr lang="en-GB"/>
          </a:p>
        </p:txBody>
      </p:sp>
      <p:sp>
        <p:nvSpPr>
          <p:cNvPr id="3" name="Text Placeholder 2"/>
          <p:cNvSpPr>
            <a:spLocks noGrp="1"/>
          </p:cNvSpPr>
          <p:nvPr>
            <p:ph type="body" sz="half" idx="1"/>
          </p:nvPr>
        </p:nvSpPr>
        <p:spPr>
          <a:xfrm>
            <a:off x="457200" y="1341438"/>
            <a:ext cx="4038600" cy="47847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341438"/>
            <a:ext cx="4038600" cy="47847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r>
              <a:rPr lang="en-US"/>
              <a:t>01/15</a:t>
            </a:r>
            <a:endParaRPr lang="en-US" dirty="0"/>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r>
              <a:rPr lang="en-US"/>
              <a:t>ENGR 227</a:t>
            </a:r>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2CB6840-33D9-474B-A7E4-8F57EBB84413}" type="slidenum">
              <a:rPr lang="en-US" altLang="en-US"/>
              <a:pPr/>
              <a:t>‹#›</a:t>
            </a:fld>
            <a:endParaRPr lang="en-US" altLang="en-US"/>
          </a:p>
        </p:txBody>
      </p:sp>
    </p:spTree>
    <p:extLst>
      <p:ext uri="{BB962C8B-B14F-4D97-AF65-F5344CB8AC3E}">
        <p14:creationId xmlns:p14="http://schemas.microsoft.com/office/powerpoint/2010/main" val="2187801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3"/>
            <a:ext cx="8208912" cy="1010543"/>
          </a:xfrm>
          <a:prstGeom prst="rect">
            <a:avLst/>
          </a:prstGeom>
        </p:spPr>
        <p:txBody>
          <a:bodyPr/>
          <a:lstStyle>
            <a:lvl1pPr algn="l">
              <a:lnSpc>
                <a:spcPts val="2625"/>
              </a:lnSpc>
              <a:defRPr sz="27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3464949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90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457200" y="1341438"/>
            <a:ext cx="8229600" cy="47847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defRPr/>
            </a:pPr>
            <a:r>
              <a:rPr lang="en-US"/>
              <a:t>01/15</a:t>
            </a:r>
            <a:endParaRPr lang="en-US" dirty="0"/>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defRPr/>
            </a:pPr>
            <a:r>
              <a:rPr lang="en-US"/>
              <a:t>ENGR 227</a:t>
            </a:r>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A52A7121-0E51-41A9-BF78-8271F1371D36}" type="slidenum">
              <a:rPr lang="en-US" altLang="en-US"/>
              <a:pPr/>
              <a:t>‹#›</a:t>
            </a:fld>
            <a:endParaRPr lang="en-US" altLang="en-US"/>
          </a:p>
        </p:txBody>
      </p:sp>
    </p:spTree>
    <p:extLst>
      <p:ext uri="{BB962C8B-B14F-4D97-AF65-F5344CB8AC3E}">
        <p14:creationId xmlns:p14="http://schemas.microsoft.com/office/powerpoint/2010/main" val="1175776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rcRect t="14132"/>
          <a:stretch/>
        </p:blipFill>
        <p:spPr bwMode="auto">
          <a:xfrm>
            <a:off x="5523" y="973667"/>
            <a:ext cx="9132955" cy="5892360"/>
          </a:xfrm>
          <a:prstGeom prst="rect">
            <a:avLst/>
          </a:prstGeom>
          <a:noFill/>
          <a:ln w="9525">
            <a:noFill/>
            <a:miter lim="800000"/>
            <a:headEnd/>
            <a:tailEnd/>
          </a:ln>
        </p:spPr>
      </p:pic>
      <p:pic>
        <p:nvPicPr>
          <p:cNvPr id="1026" name="07CD033D-8747-4CFD-BF1C-6E5E05848D89" descr="8DE0AF4C-7EE2-4A67-B968-2D2A680EFBE9@lancs"/>
          <p:cNvPicPr>
            <a:picLocks noChangeAspect="1" noChangeArrowheads="1"/>
          </p:cNvPicPr>
          <p:nvPr userDrawn="1"/>
        </p:nvPicPr>
        <p:blipFill rotWithShape="1">
          <a:blip r:embed="rId14">
            <a:extLst>
              <a:ext uri="{28A0092B-C50C-407E-A947-70E740481C1C}">
                <a14:useLocalDpi xmlns:a14="http://schemas.microsoft.com/office/drawing/2010/main" val="0"/>
              </a:ext>
            </a:extLst>
          </a:blip>
          <a:srcRect l="22145" r="22717"/>
          <a:stretch/>
        </p:blipFill>
        <p:spPr bwMode="auto">
          <a:xfrm>
            <a:off x="5715000" y="138641"/>
            <a:ext cx="336126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790607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3" r:id="rId9"/>
    <p:sldLayoutId id="2147483675" r:id="rId10"/>
    <p:sldLayoutId id="214748367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t="14667"/>
          <a:stretch/>
        </p:blipFill>
        <p:spPr bwMode="auto">
          <a:xfrm>
            <a:off x="2" y="1007533"/>
            <a:ext cx="9143998" cy="5855717"/>
          </a:xfrm>
          <a:prstGeom prst="rect">
            <a:avLst/>
          </a:prstGeom>
          <a:noFill/>
          <a:ln w="9525">
            <a:noFill/>
            <a:miter lim="800000"/>
            <a:headEnd/>
            <a:tailEnd/>
          </a:ln>
        </p:spPr>
      </p:pic>
      <p:pic>
        <p:nvPicPr>
          <p:cNvPr id="3" name="07CD033D-8747-4CFD-BF1C-6E5E05848D89" descr="8DE0AF4C-7EE2-4A67-B968-2D2A680EFBE9@lancs"/>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2145" r="22717"/>
          <a:stretch/>
        </p:blipFill>
        <p:spPr bwMode="auto">
          <a:xfrm>
            <a:off x="5715000" y="138641"/>
            <a:ext cx="336126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136250"/>
      </p:ext>
    </p:extLst>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CNENGR227 – Electromagnetics, Semiconductors and RF Engineering</a:t>
            </a:r>
            <a:br>
              <a:rPr lang="en-GB" dirty="0"/>
            </a:br>
            <a:br>
              <a:rPr lang="en-GB" dirty="0"/>
            </a:br>
            <a:r>
              <a:rPr lang="en-GB" dirty="0"/>
              <a:t>Lab 1: Spectrum Analysis</a:t>
            </a:r>
          </a:p>
        </p:txBody>
      </p:sp>
      <p:sp>
        <p:nvSpPr>
          <p:cNvPr id="3" name="Subtitle 2"/>
          <p:cNvSpPr>
            <a:spLocks noGrp="1"/>
          </p:cNvSpPr>
          <p:nvPr>
            <p:ph type="subTitle" idx="1"/>
          </p:nvPr>
        </p:nvSpPr>
        <p:spPr/>
        <p:txBody>
          <a:bodyPr/>
          <a:lstStyle/>
          <a:p>
            <a:r>
              <a:rPr lang="en-GB" dirty="0"/>
              <a:t>Dr Harry Marks</a:t>
            </a:r>
          </a:p>
        </p:txBody>
      </p:sp>
    </p:spTree>
    <p:extLst>
      <p:ext uri="{BB962C8B-B14F-4D97-AF65-F5344CB8AC3E}">
        <p14:creationId xmlns:p14="http://schemas.microsoft.com/office/powerpoint/2010/main" val="2064085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Learning objectives</a:t>
            </a:r>
          </a:p>
        </p:txBody>
      </p:sp>
      <p:sp>
        <p:nvSpPr>
          <p:cNvPr id="5" name="Text Placeholder 4"/>
          <p:cNvSpPr>
            <a:spLocks noGrp="1"/>
          </p:cNvSpPr>
          <p:nvPr>
            <p:ph type="body" sz="quarter" idx="14"/>
          </p:nvPr>
        </p:nvSpPr>
        <p:spPr/>
        <p:txBody>
          <a:bodyPr/>
          <a:lstStyle/>
          <a:p>
            <a:r>
              <a:rPr lang="en-GB" dirty="0"/>
              <a:t>This lab aims to teach you about spectrum analysis.</a:t>
            </a:r>
          </a:p>
          <a:p>
            <a:r>
              <a:rPr lang="en-GB" dirty="0"/>
              <a:t>You begin by modelling a mixer and a filter.</a:t>
            </a:r>
          </a:p>
          <a:p>
            <a:r>
              <a:rPr lang="en-GB" dirty="0"/>
              <a:t>You will look at how a waveform is transformed into its spectral components.</a:t>
            </a:r>
          </a:p>
          <a:p>
            <a:r>
              <a:rPr lang="en-GB" dirty="0"/>
              <a:t>This practical will use </a:t>
            </a:r>
            <a:r>
              <a:rPr lang="en-GB" dirty="0" err="1"/>
              <a:t>Matlab</a:t>
            </a:r>
            <a:r>
              <a:rPr lang="en-GB" dirty="0"/>
              <a:t> to gain more experience with this powerful tool.</a:t>
            </a:r>
          </a:p>
          <a:p>
            <a:r>
              <a:rPr lang="en-GB" dirty="0"/>
              <a:t>Record your results, save your </a:t>
            </a:r>
            <a:r>
              <a:rPr lang="en-GB" dirty="0" err="1"/>
              <a:t>Matlab</a:t>
            </a:r>
            <a:r>
              <a:rPr lang="en-GB" dirty="0"/>
              <a:t> code and figures generated. </a:t>
            </a:r>
            <a:r>
              <a:rPr lang="en-GB" u="sng" dirty="0">
                <a:solidFill>
                  <a:srgbClr val="FF0000"/>
                </a:solidFill>
              </a:rPr>
              <a:t>These results will got into </a:t>
            </a:r>
            <a:r>
              <a:rPr lang="en-GB" b="1" u="sng" dirty="0">
                <a:solidFill>
                  <a:srgbClr val="FF0000"/>
                </a:solidFill>
              </a:rPr>
              <a:t>Part 1</a:t>
            </a:r>
            <a:r>
              <a:rPr lang="en-GB" u="sng" dirty="0">
                <a:solidFill>
                  <a:srgbClr val="FF0000"/>
                </a:solidFill>
              </a:rPr>
              <a:t> of a report you will submit at the end of week 8</a:t>
            </a:r>
            <a:r>
              <a:rPr lang="en-GB" u="sng" dirty="0"/>
              <a:t>. </a:t>
            </a:r>
          </a:p>
        </p:txBody>
      </p:sp>
    </p:spTree>
    <p:extLst>
      <p:ext uri="{BB962C8B-B14F-4D97-AF65-F5344CB8AC3E}">
        <p14:creationId xmlns:p14="http://schemas.microsoft.com/office/powerpoint/2010/main" val="282180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E28A-B50D-46A2-8307-88B0DAAC56EB}"/>
              </a:ext>
            </a:extLst>
          </p:cNvPr>
          <p:cNvSpPr>
            <a:spLocks noGrp="1"/>
          </p:cNvSpPr>
          <p:nvPr>
            <p:ph type="ctrTitle"/>
          </p:nvPr>
        </p:nvSpPr>
        <p:spPr/>
        <p:txBody>
          <a:bodyPr/>
          <a:lstStyle/>
          <a:p>
            <a:r>
              <a:rPr lang="en-GB" dirty="0"/>
              <a:t>Getting Started in </a:t>
            </a:r>
            <a:r>
              <a:rPr lang="en-GB" dirty="0" err="1"/>
              <a:t>Matlab</a:t>
            </a:r>
            <a:r>
              <a:rPr lang="en-GB" dirty="0"/>
              <a:t>:</a:t>
            </a:r>
            <a:br>
              <a:rPr lang="en-GB" dirty="0"/>
            </a:br>
            <a:r>
              <a:rPr lang="en-GB" dirty="0"/>
              <a:t>After opening </a:t>
            </a:r>
            <a:r>
              <a:rPr lang="en-GB" dirty="0" err="1"/>
              <a:t>Matlab</a:t>
            </a:r>
            <a:r>
              <a:rPr lang="en-GB" dirty="0"/>
              <a:t> click “New”, and then click on “Script”.</a:t>
            </a:r>
          </a:p>
        </p:txBody>
      </p:sp>
      <p:sp>
        <p:nvSpPr>
          <p:cNvPr id="3" name="Text Placeholder 2">
            <a:extLst>
              <a:ext uri="{FF2B5EF4-FFF2-40B4-BE49-F238E27FC236}">
                <a16:creationId xmlns:a16="http://schemas.microsoft.com/office/drawing/2014/main" id="{BDDA2D38-FB82-4DC6-B86B-10B31A9988A9}"/>
              </a:ext>
            </a:extLst>
          </p:cNvPr>
          <p:cNvSpPr>
            <a:spLocks noGrp="1"/>
          </p:cNvSpPr>
          <p:nvPr>
            <p:ph type="body" sz="quarter" idx="14"/>
          </p:nvPr>
        </p:nvSpPr>
        <p:spPr/>
        <p:txBody>
          <a:bodyPr/>
          <a:lstStyle/>
          <a:p>
            <a:endParaRPr lang="en-GB" dirty="0"/>
          </a:p>
        </p:txBody>
      </p:sp>
      <p:pic>
        <p:nvPicPr>
          <p:cNvPr id="5" name="Picture 4" descr="Graphical user interface, application, Word&#10;&#10;Description automatically generated">
            <a:extLst>
              <a:ext uri="{FF2B5EF4-FFF2-40B4-BE49-F238E27FC236}">
                <a16:creationId xmlns:a16="http://schemas.microsoft.com/office/drawing/2014/main" id="{CBF07C4B-938A-40A2-8FCF-74655BBAF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57" y="1688764"/>
            <a:ext cx="8637648" cy="4620556"/>
          </a:xfrm>
          <a:prstGeom prst="rect">
            <a:avLst/>
          </a:prstGeom>
        </p:spPr>
      </p:pic>
    </p:spTree>
    <p:extLst>
      <p:ext uri="{BB962C8B-B14F-4D97-AF65-F5344CB8AC3E}">
        <p14:creationId xmlns:p14="http://schemas.microsoft.com/office/powerpoint/2010/main" val="829075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E7A1-C35F-4A46-9E22-DDE4587AC621}"/>
              </a:ext>
            </a:extLst>
          </p:cNvPr>
          <p:cNvSpPr>
            <a:spLocks noGrp="1"/>
          </p:cNvSpPr>
          <p:nvPr>
            <p:ph type="ctrTitle"/>
          </p:nvPr>
        </p:nvSpPr>
        <p:spPr/>
        <p:txBody>
          <a:bodyPr/>
          <a:lstStyle/>
          <a:p>
            <a:r>
              <a:rPr lang="en-GB" dirty="0"/>
              <a:t>Notes on </a:t>
            </a:r>
            <a:r>
              <a:rPr lang="en-GB" dirty="0" err="1"/>
              <a:t>Matlab</a:t>
            </a:r>
            <a:r>
              <a:rPr lang="en-GB" dirty="0"/>
              <a:t>		</a:t>
            </a:r>
          </a:p>
        </p:txBody>
      </p:sp>
      <p:sp>
        <p:nvSpPr>
          <p:cNvPr id="3" name="Text Placeholder 2">
            <a:extLst>
              <a:ext uri="{FF2B5EF4-FFF2-40B4-BE49-F238E27FC236}">
                <a16:creationId xmlns:a16="http://schemas.microsoft.com/office/drawing/2014/main" id="{613C1A5F-4620-4606-8095-B9DFBA4C991A}"/>
              </a:ext>
            </a:extLst>
          </p:cNvPr>
          <p:cNvSpPr>
            <a:spLocks noGrp="1"/>
          </p:cNvSpPr>
          <p:nvPr>
            <p:ph type="body" sz="quarter" idx="14"/>
          </p:nvPr>
        </p:nvSpPr>
        <p:spPr/>
        <p:txBody>
          <a:bodyPr/>
          <a:lstStyle/>
          <a:p>
            <a:r>
              <a:rPr lang="en-GB" dirty="0"/>
              <a:t>It’s a good idea to start each program by writing:</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closes any open figures, removes any old variables from the program’s memory, and clears the output window.</a:t>
            </a:r>
          </a:p>
        </p:txBody>
      </p:sp>
      <p:pic>
        <p:nvPicPr>
          <p:cNvPr id="5" name="Picture 4" descr="Graphical user interface, text, application&#10;&#10;Description automatically generated">
            <a:extLst>
              <a:ext uri="{FF2B5EF4-FFF2-40B4-BE49-F238E27FC236}">
                <a16:creationId xmlns:a16="http://schemas.microsoft.com/office/drawing/2014/main" id="{94DB6E92-1A86-4D59-8312-0C00B3E824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826" y="2440974"/>
            <a:ext cx="5050172" cy="2325475"/>
          </a:xfrm>
          <a:prstGeom prst="rect">
            <a:avLst/>
          </a:prstGeom>
        </p:spPr>
      </p:pic>
    </p:spTree>
    <p:extLst>
      <p:ext uri="{BB962C8B-B14F-4D97-AF65-F5344CB8AC3E}">
        <p14:creationId xmlns:p14="http://schemas.microsoft.com/office/powerpoint/2010/main" val="2515345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CFE81-B868-418B-A881-0EDA577B09F3}"/>
              </a:ext>
            </a:extLst>
          </p:cNvPr>
          <p:cNvSpPr>
            <a:spLocks noGrp="1"/>
          </p:cNvSpPr>
          <p:nvPr>
            <p:ph type="ctrTitle"/>
          </p:nvPr>
        </p:nvSpPr>
        <p:spPr>
          <a:xfrm>
            <a:off x="395289" y="692549"/>
            <a:ext cx="6768752" cy="1152128"/>
          </a:xfrm>
        </p:spPr>
        <p:txBody>
          <a:bodyPr/>
          <a:lstStyle/>
          <a:p>
            <a:r>
              <a:rPr lang="en-GB" dirty="0"/>
              <a:t>Before running your program for the first time you must save it to the computer hard disk.</a:t>
            </a:r>
          </a:p>
        </p:txBody>
      </p:sp>
      <p:sp>
        <p:nvSpPr>
          <p:cNvPr id="3" name="Text Placeholder 2">
            <a:extLst>
              <a:ext uri="{FF2B5EF4-FFF2-40B4-BE49-F238E27FC236}">
                <a16:creationId xmlns:a16="http://schemas.microsoft.com/office/drawing/2014/main" id="{CB73765B-540B-4546-B4CC-906B671E3727}"/>
              </a:ext>
            </a:extLst>
          </p:cNvPr>
          <p:cNvSpPr>
            <a:spLocks noGrp="1"/>
          </p:cNvSpPr>
          <p:nvPr>
            <p:ph type="body" sz="quarter" idx="14"/>
          </p:nvPr>
        </p:nvSpPr>
        <p:spPr/>
        <p:txBody>
          <a:bodyPr/>
          <a:lstStyle/>
          <a:p>
            <a:endParaRPr lang="en-GB" dirty="0"/>
          </a:p>
        </p:txBody>
      </p:sp>
      <p:pic>
        <p:nvPicPr>
          <p:cNvPr id="5" name="Picture 4" descr="Graphical user interface, text, application&#10;&#10;Description automatically generated">
            <a:extLst>
              <a:ext uri="{FF2B5EF4-FFF2-40B4-BE49-F238E27FC236}">
                <a16:creationId xmlns:a16="http://schemas.microsoft.com/office/drawing/2014/main" id="{57F2DD42-5FD0-497A-A642-9BDE37195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068" y="1742066"/>
            <a:ext cx="6234599" cy="3373867"/>
          </a:xfrm>
          <a:prstGeom prst="rect">
            <a:avLst/>
          </a:prstGeom>
        </p:spPr>
      </p:pic>
    </p:spTree>
    <p:extLst>
      <p:ext uri="{BB962C8B-B14F-4D97-AF65-F5344CB8AC3E}">
        <p14:creationId xmlns:p14="http://schemas.microsoft.com/office/powerpoint/2010/main" val="148530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479A-F23A-4B00-842D-5B33C6B1C4AE}"/>
              </a:ext>
            </a:extLst>
          </p:cNvPr>
          <p:cNvSpPr>
            <a:spLocks noGrp="1"/>
          </p:cNvSpPr>
          <p:nvPr>
            <p:ph type="ctrTitle"/>
          </p:nvPr>
        </p:nvSpPr>
        <p:spPr/>
        <p:txBody>
          <a:bodyPr/>
          <a:lstStyle/>
          <a:p>
            <a:r>
              <a:rPr lang="en-GB" dirty="0"/>
              <a:t>Click the green play button to run the program:</a:t>
            </a:r>
            <a:br>
              <a:rPr lang="en-GB" dirty="0"/>
            </a:br>
            <a:r>
              <a:rPr lang="en-GB" dirty="0"/>
              <a:t>The output appears in the command window.</a:t>
            </a:r>
          </a:p>
        </p:txBody>
      </p:sp>
      <p:sp>
        <p:nvSpPr>
          <p:cNvPr id="3" name="Text Placeholder 2">
            <a:extLst>
              <a:ext uri="{FF2B5EF4-FFF2-40B4-BE49-F238E27FC236}">
                <a16:creationId xmlns:a16="http://schemas.microsoft.com/office/drawing/2014/main" id="{CA5EA073-DC6E-47CB-82AA-D52154FDEC49}"/>
              </a:ext>
            </a:extLst>
          </p:cNvPr>
          <p:cNvSpPr>
            <a:spLocks noGrp="1"/>
          </p:cNvSpPr>
          <p:nvPr>
            <p:ph type="body" sz="quarter" idx="14"/>
          </p:nvPr>
        </p:nvSpPr>
        <p:spPr/>
        <p:txBody>
          <a:bodyPr/>
          <a:lstStyle/>
          <a:p>
            <a:endParaRPr lang="en-GB" dirty="0"/>
          </a:p>
        </p:txBody>
      </p:sp>
      <p:pic>
        <p:nvPicPr>
          <p:cNvPr id="5" name="Picture 4" descr="Graphical user interface, application, Word&#10;&#10;Description automatically generated">
            <a:extLst>
              <a:ext uri="{FF2B5EF4-FFF2-40B4-BE49-F238E27FC236}">
                <a16:creationId xmlns:a16="http://schemas.microsoft.com/office/drawing/2014/main" id="{01C59619-C02F-48AA-853C-F12313062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148" y="1732450"/>
            <a:ext cx="5251527" cy="4576870"/>
          </a:xfrm>
          <a:prstGeom prst="rect">
            <a:avLst/>
          </a:prstGeom>
        </p:spPr>
      </p:pic>
    </p:spTree>
    <p:extLst>
      <p:ext uri="{BB962C8B-B14F-4D97-AF65-F5344CB8AC3E}">
        <p14:creationId xmlns:p14="http://schemas.microsoft.com/office/powerpoint/2010/main" val="2899324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E64C-C32F-4401-A826-9B54F4308B94}"/>
              </a:ext>
            </a:extLst>
          </p:cNvPr>
          <p:cNvSpPr>
            <a:spLocks noGrp="1"/>
          </p:cNvSpPr>
          <p:nvPr>
            <p:ph type="ctrTitle"/>
          </p:nvPr>
        </p:nvSpPr>
        <p:spPr>
          <a:xfrm>
            <a:off x="395536" y="620615"/>
            <a:ext cx="8085515" cy="1152128"/>
          </a:xfrm>
        </p:spPr>
        <p:txBody>
          <a:bodyPr/>
          <a:lstStyle/>
          <a:p>
            <a:r>
              <a:rPr lang="en-GB" dirty="0"/>
              <a:t>After running this program the only output is the variable “c”. Put semi-colons “;” after lines of code for which you don’t want the output.</a:t>
            </a:r>
          </a:p>
        </p:txBody>
      </p:sp>
      <p:sp>
        <p:nvSpPr>
          <p:cNvPr id="3" name="Text Placeholder 2">
            <a:extLst>
              <a:ext uri="{FF2B5EF4-FFF2-40B4-BE49-F238E27FC236}">
                <a16:creationId xmlns:a16="http://schemas.microsoft.com/office/drawing/2014/main" id="{40616127-39BF-4E40-8301-04019A0CD246}"/>
              </a:ext>
            </a:extLst>
          </p:cNvPr>
          <p:cNvSpPr>
            <a:spLocks noGrp="1"/>
          </p:cNvSpPr>
          <p:nvPr>
            <p:ph type="body" sz="quarter" idx="14"/>
          </p:nvPr>
        </p:nvSpPr>
        <p:spPr/>
        <p:txBody>
          <a:bodyPr/>
          <a:lstStyle/>
          <a:p>
            <a:endParaRPr lang="en-GB" dirty="0"/>
          </a:p>
        </p:txBody>
      </p:sp>
      <p:pic>
        <p:nvPicPr>
          <p:cNvPr id="5" name="Picture 4" descr="Graphical user interface, application&#10;&#10;Description automatically generated">
            <a:extLst>
              <a:ext uri="{FF2B5EF4-FFF2-40B4-BE49-F238E27FC236}">
                <a16:creationId xmlns:a16="http://schemas.microsoft.com/office/drawing/2014/main" id="{B1EC7F49-2AFB-4A7A-B5E8-311399124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49" y="1700808"/>
            <a:ext cx="6870209" cy="4752975"/>
          </a:xfrm>
          <a:prstGeom prst="rect">
            <a:avLst/>
          </a:prstGeom>
        </p:spPr>
      </p:pic>
    </p:spTree>
    <p:extLst>
      <p:ext uri="{BB962C8B-B14F-4D97-AF65-F5344CB8AC3E}">
        <p14:creationId xmlns:p14="http://schemas.microsoft.com/office/powerpoint/2010/main" val="390720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55506-D97D-436C-A289-0DE658F4C17F}"/>
              </a:ext>
            </a:extLst>
          </p:cNvPr>
          <p:cNvSpPr>
            <a:spLocks noGrp="1"/>
          </p:cNvSpPr>
          <p:nvPr>
            <p:ph type="ctrTitle"/>
          </p:nvPr>
        </p:nvSpPr>
        <p:spPr/>
        <p:txBody>
          <a:bodyPr/>
          <a:lstStyle/>
          <a:p>
            <a:r>
              <a:rPr lang="en-GB" dirty="0"/>
              <a:t>Multiplication in </a:t>
            </a:r>
            <a:r>
              <a:rPr lang="en-GB" dirty="0" err="1"/>
              <a:t>Matlab</a:t>
            </a:r>
            <a:endParaRPr lang="en-GB"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D64235D-C041-4371-A4E6-BE6175775CE1}"/>
                  </a:ext>
                </a:extLst>
              </p:cNvPr>
              <p:cNvSpPr>
                <a:spLocks noGrp="1"/>
              </p:cNvSpPr>
              <p:nvPr>
                <p:ph type="body" sz="quarter" idx="14"/>
              </p:nvPr>
            </p:nvSpPr>
            <p:spPr/>
            <p:txBody>
              <a:bodyPr/>
              <a:lstStyle/>
              <a:p>
                <a:r>
                  <a:rPr lang="en-GB" dirty="0"/>
                  <a:t>A = [1 2 3 4];</a:t>
                </a:r>
              </a:p>
              <a:p>
                <a:r>
                  <a:rPr lang="en-GB" dirty="0"/>
                  <a:t>B = [2 3 4 5];</a:t>
                </a:r>
              </a:p>
              <a:p>
                <a:endParaRPr lang="en-GB" dirty="0"/>
              </a:p>
              <a:p>
                <a:r>
                  <a:rPr lang="en-GB" dirty="0"/>
                  <a:t>In </a:t>
                </a:r>
                <a:r>
                  <a:rPr lang="en-GB" dirty="0" err="1"/>
                  <a:t>Matlab</a:t>
                </a:r>
                <a:r>
                  <a:rPr lang="en-GB" dirty="0"/>
                  <a:t> A*B is a matrix multiplication.</a:t>
                </a:r>
              </a:p>
              <a:p>
                <a:r>
                  <a:rPr lang="en-GB" dirty="0"/>
                  <a:t>Matrices can be rotated by using the ‘ symbol.</a:t>
                </a:r>
              </a:p>
              <a:p>
                <a:r>
                  <a:rPr lang="en-GB" dirty="0"/>
                  <a:t>So if:</a:t>
                </a:r>
              </a:p>
              <a:p>
                <a14:m>
                  <m:oMath xmlns:m="http://schemas.openxmlformats.org/officeDocument/2006/math">
                    <m:r>
                      <a:rPr lang="en-GB" i="1" smtClean="0">
                        <a:latin typeface="Cambria Math" panose="02040503050406030204" pitchFamily="18" charset="0"/>
                      </a:rPr>
                      <m:t>𝐴</m:t>
                    </m:r>
                    <m:r>
                      <a:rPr lang="en-GB" i="1" smtClean="0">
                        <a:latin typeface="Cambria Math" panose="02040503050406030204" pitchFamily="18" charset="0"/>
                      </a:rPr>
                      <m:t>=</m:t>
                    </m:r>
                    <m:d>
                      <m:dPr>
                        <m:begChr m:val="["/>
                        <m:endChr m:val="]"/>
                        <m:ctrlPr>
                          <a:rPr lang="en-GB" i="1" smtClean="0">
                            <a:latin typeface="Cambria Math" panose="02040503050406030204" pitchFamily="18" charset="0"/>
                          </a:rPr>
                        </m:ctrlPr>
                      </m:dPr>
                      <m:e>
                        <m:r>
                          <a:rPr lang="en-GB" b="0" i="1" smtClean="0">
                            <a:latin typeface="Cambria Math" panose="02040503050406030204" pitchFamily="18" charset="0"/>
                          </a:rPr>
                          <m:t>1 2 3 4 5</m:t>
                        </m:r>
                      </m:e>
                    </m:d>
                  </m:oMath>
                </a14:m>
                <a:r>
                  <a:rPr lang="en-GB" dirty="0"/>
                  <a:t>            A’ = </a:t>
                </a:r>
                <a14:m>
                  <m:oMath xmlns:m="http://schemas.openxmlformats.org/officeDocument/2006/math">
                    <m:d>
                      <m:dPr>
                        <m:begChr m:val="["/>
                        <m:endChr m:val="]"/>
                        <m:ctrlPr>
                          <a:rPr lang="en-GB" i="1">
                            <a:latin typeface="Cambria Math" panose="02040503050406030204" pitchFamily="18" charset="0"/>
                          </a:rPr>
                        </m:ctrlPr>
                      </m:dPr>
                      <m:e>
                        <m:eqArr>
                          <m:eqArrPr>
                            <m:ctrlPr>
                              <a:rPr lang="en-GB" i="1">
                                <a:latin typeface="Cambria Math" panose="02040503050406030204" pitchFamily="18" charset="0"/>
                              </a:rPr>
                            </m:ctrlPr>
                          </m:eqArrPr>
                          <m:e>
                            <m:r>
                              <a:rPr lang="en-GB" i="1">
                                <a:latin typeface="Cambria Math" panose="02040503050406030204" pitchFamily="18" charset="0"/>
                              </a:rPr>
                              <m:t>1 </m:t>
                            </m:r>
                          </m:e>
                          <m:e>
                            <m:r>
                              <a:rPr lang="en-GB" i="1">
                                <a:latin typeface="Cambria Math" panose="02040503050406030204" pitchFamily="18" charset="0"/>
                              </a:rPr>
                              <m:t>2</m:t>
                            </m:r>
                          </m:e>
                          <m:e>
                            <m:r>
                              <a:rPr lang="en-GB" i="1">
                                <a:latin typeface="Cambria Math" panose="02040503050406030204" pitchFamily="18" charset="0"/>
                              </a:rPr>
                              <m:t> 3</m:t>
                            </m:r>
                          </m:e>
                          <m:e>
                            <m:r>
                              <a:rPr lang="en-GB" i="1">
                                <a:latin typeface="Cambria Math" panose="02040503050406030204" pitchFamily="18" charset="0"/>
                              </a:rPr>
                              <m:t> 4</m:t>
                            </m:r>
                          </m:e>
                          <m:e>
                            <m:r>
                              <a:rPr lang="en-GB" i="1">
                                <a:latin typeface="Cambria Math" panose="02040503050406030204" pitchFamily="18" charset="0"/>
                              </a:rPr>
                              <m:t> 5</m:t>
                            </m:r>
                          </m:e>
                        </m:eqArr>
                      </m:e>
                    </m:d>
                  </m:oMath>
                </a14:m>
                <a:endParaRPr lang="en-GB" dirty="0"/>
              </a:p>
              <a:p>
                <a:r>
                  <a:rPr lang="en-GB" dirty="0"/>
                  <a:t>If you want to multiply A and B such that C = [1x2 2x3 3x4 4x5]</a:t>
                </a:r>
              </a:p>
              <a:p>
                <a:r>
                  <a:rPr lang="en-GB" dirty="0"/>
                  <a:t>Then you need to write: C = A.*B;</a:t>
                </a:r>
              </a:p>
            </p:txBody>
          </p:sp>
        </mc:Choice>
        <mc:Fallback xmlns="">
          <p:sp>
            <p:nvSpPr>
              <p:cNvPr id="3" name="Text Placeholder 2">
                <a:extLst>
                  <a:ext uri="{FF2B5EF4-FFF2-40B4-BE49-F238E27FC236}">
                    <a16:creationId xmlns:a16="http://schemas.microsoft.com/office/drawing/2014/main" id="{1D64235D-C041-4371-A4E6-BE6175775CE1}"/>
                  </a:ext>
                </a:extLst>
              </p:cNvPr>
              <p:cNvSpPr>
                <a:spLocks noGrp="1" noRot="1" noChangeAspect="1" noMove="1" noResize="1" noEditPoints="1" noAdjustHandles="1" noChangeArrowheads="1" noChangeShapeType="1" noTextEdit="1"/>
              </p:cNvSpPr>
              <p:nvPr>
                <p:ph type="body" sz="quarter" idx="14"/>
              </p:nvPr>
            </p:nvSpPr>
            <p:spPr>
              <a:blipFill>
                <a:blip r:embed="rId2"/>
                <a:stretch>
                  <a:fillRect l="-651" t="-770"/>
                </a:stretch>
              </a:blipFill>
            </p:spPr>
            <p:txBody>
              <a:bodyPr/>
              <a:lstStyle/>
              <a:p>
                <a:r>
                  <a:rPr lang="en-GB">
                    <a:noFill/>
                  </a:rPr>
                  <a:t> </a:t>
                </a:r>
              </a:p>
            </p:txBody>
          </p:sp>
        </mc:Fallback>
      </mc:AlternateContent>
    </p:spTree>
    <p:extLst>
      <p:ext uri="{BB962C8B-B14F-4D97-AF65-F5344CB8AC3E}">
        <p14:creationId xmlns:p14="http://schemas.microsoft.com/office/powerpoint/2010/main" val="239730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A766C23-191F-4B52-AAF2-2BD099C90146}"/>
                  </a:ext>
                </a:extLst>
              </p:cNvPr>
              <p:cNvSpPr>
                <a:spLocks noGrp="1"/>
              </p:cNvSpPr>
              <p:nvPr>
                <p:ph type="ctrTitle"/>
              </p:nvPr>
            </p:nvSpPr>
            <p:spPr/>
            <p:txBody>
              <a:bodyPr/>
              <a:lstStyle/>
              <a:p>
                <a:pPr/>
                <a:r>
                  <a:rPr lang="en-GB" dirty="0"/>
                  <a:t>Plotting a figure in </a:t>
                </a:r>
                <a:r>
                  <a:rPr lang="en-GB" dirty="0" err="1"/>
                  <a:t>Matlab</a:t>
                </a:r>
                <a:r>
                  <a:rPr lang="en-GB" dirty="0"/>
                  <a:t>. Graph of</a:t>
                </a:r>
                <a:br>
                  <a:rPr lang="en-GB" dirty="0"/>
                </a:b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y</m:t>
                      </m:r>
                      <m:r>
                        <a:rPr lang="en-GB" i="1" smtClean="0">
                          <a:latin typeface="Cambria Math" panose="02040503050406030204" pitchFamily="18" charset="0"/>
                        </a:rPr>
                        <m:t>=</m:t>
                      </m:r>
                      <m:sSup>
                        <m:sSupPr>
                          <m:ctrlPr>
                            <a:rPr lang="en-GB" i="1" smtClean="0">
                              <a:latin typeface="Cambria Math" panose="02040503050406030204" pitchFamily="18" charset="0"/>
                            </a:rPr>
                          </m:ctrlPr>
                        </m:sSupPr>
                        <m:e>
                          <m:r>
                            <a:rPr lang="en-GB" b="0" i="1" smtClean="0">
                              <a:latin typeface="Cambria Math" panose="02040503050406030204" pitchFamily="18" charset="0"/>
                            </a:rPr>
                            <m:t>𝑥</m:t>
                          </m:r>
                        </m:e>
                        <m:sup>
                          <m:r>
                            <a:rPr lang="en-GB" i="1" smtClean="0">
                              <a:latin typeface="Cambria Math" panose="02040503050406030204" pitchFamily="18" charset="0"/>
                            </a:rPr>
                            <m:t>2</m:t>
                          </m:r>
                        </m:sup>
                      </m:sSup>
                    </m:oMath>
                  </m:oMathPara>
                </a14:m>
                <a:br>
                  <a:rPr lang="en-GB" dirty="0"/>
                </a:br>
                <a:r>
                  <a:rPr lang="en-GB" dirty="0"/>
                  <a:t>Note the dot before the ^.</a:t>
                </a:r>
                <a:br>
                  <a:rPr lang="en-GB" dirty="0"/>
                </a:br>
                <a:endParaRPr lang="en-GB" dirty="0"/>
              </a:p>
            </p:txBody>
          </p:sp>
        </mc:Choice>
        <mc:Fallback xmlns="">
          <p:sp>
            <p:nvSpPr>
              <p:cNvPr id="2" name="Title 1">
                <a:extLst>
                  <a:ext uri="{FF2B5EF4-FFF2-40B4-BE49-F238E27FC236}">
                    <a16:creationId xmlns:a16="http://schemas.microsoft.com/office/drawing/2014/main" id="{3A766C23-191F-4B52-AAF2-2BD099C90146}"/>
                  </a:ext>
                </a:extLst>
              </p:cNvPr>
              <p:cNvSpPr>
                <a:spLocks noGrp="1" noRot="1" noChangeAspect="1" noMove="1" noResize="1" noEditPoints="1" noAdjustHandles="1" noChangeArrowheads="1" noChangeShapeType="1" noTextEdit="1"/>
              </p:cNvSpPr>
              <p:nvPr>
                <p:ph type="ctrTitle"/>
              </p:nvPr>
            </p:nvSpPr>
            <p:spPr>
              <a:blipFill>
                <a:blip r:embed="rId2"/>
                <a:stretch>
                  <a:fillRect l="-1712" t="-11111" b="-8995"/>
                </a:stretch>
              </a:blipFill>
            </p:spPr>
            <p:txBody>
              <a:bodyPr/>
              <a:lstStyle/>
              <a:p>
                <a:r>
                  <a:rPr lang="en-GB">
                    <a:noFill/>
                  </a:rPr>
                  <a:t> </a:t>
                </a:r>
              </a:p>
            </p:txBody>
          </p:sp>
        </mc:Fallback>
      </mc:AlternateContent>
      <p:sp>
        <p:nvSpPr>
          <p:cNvPr id="3" name="Text Placeholder 2">
            <a:extLst>
              <a:ext uri="{FF2B5EF4-FFF2-40B4-BE49-F238E27FC236}">
                <a16:creationId xmlns:a16="http://schemas.microsoft.com/office/drawing/2014/main" id="{97403D88-83F0-4AD0-903C-A5FFC31FF749}"/>
              </a:ext>
            </a:extLst>
          </p:cNvPr>
          <p:cNvSpPr>
            <a:spLocks noGrp="1"/>
          </p:cNvSpPr>
          <p:nvPr>
            <p:ph type="body" sz="quarter" idx="14"/>
          </p:nvPr>
        </p:nvSpPr>
        <p:spPr/>
        <p:txBody>
          <a:bodyPr/>
          <a:lstStyle/>
          <a:p>
            <a:endParaRPr lang="en-GB" dirty="0"/>
          </a:p>
        </p:txBody>
      </p:sp>
      <p:pic>
        <p:nvPicPr>
          <p:cNvPr id="5" name="Picture 4" descr="Graphical user interface&#10;&#10;Description automatically generated">
            <a:extLst>
              <a:ext uri="{FF2B5EF4-FFF2-40B4-BE49-F238E27FC236}">
                <a16:creationId xmlns:a16="http://schemas.microsoft.com/office/drawing/2014/main" id="{31BC5985-B059-4709-A8A1-90EAF472A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767" y="1844677"/>
            <a:ext cx="8216466" cy="4537705"/>
          </a:xfrm>
          <a:prstGeom prst="rect">
            <a:avLst/>
          </a:prstGeom>
        </p:spPr>
      </p:pic>
    </p:spTree>
    <p:extLst>
      <p:ext uri="{BB962C8B-B14F-4D97-AF65-F5344CB8AC3E}">
        <p14:creationId xmlns:p14="http://schemas.microsoft.com/office/powerpoint/2010/main" val="3753258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300C2-1803-4E50-9A38-E71D6C63DB2C}"/>
              </a:ext>
            </a:extLst>
          </p:cNvPr>
          <p:cNvSpPr>
            <a:spLocks noGrp="1"/>
          </p:cNvSpPr>
          <p:nvPr>
            <p:ph type="ctrTitle"/>
          </p:nvPr>
        </p:nvSpPr>
        <p:spPr/>
        <p:txBody>
          <a:bodyPr/>
          <a:lstStyle/>
          <a:p>
            <a:r>
              <a:rPr lang="en-GB" dirty="0"/>
              <a:t>Plotting two figures. Figure 2 is sin(x).</a:t>
            </a:r>
          </a:p>
        </p:txBody>
      </p:sp>
      <p:sp>
        <p:nvSpPr>
          <p:cNvPr id="3" name="Text Placeholder 2">
            <a:extLst>
              <a:ext uri="{FF2B5EF4-FFF2-40B4-BE49-F238E27FC236}">
                <a16:creationId xmlns:a16="http://schemas.microsoft.com/office/drawing/2014/main" id="{82887133-FF2E-445F-BB7B-714EB55E71B7}"/>
              </a:ext>
            </a:extLst>
          </p:cNvPr>
          <p:cNvSpPr>
            <a:spLocks noGrp="1"/>
          </p:cNvSpPr>
          <p:nvPr>
            <p:ph type="body" sz="quarter" idx="14"/>
          </p:nvPr>
        </p:nvSpPr>
        <p:spPr/>
        <p:txBody>
          <a:bodyPr/>
          <a:lstStyle/>
          <a:p>
            <a:endParaRPr lang="en-GB" dirty="0"/>
          </a:p>
        </p:txBody>
      </p:sp>
      <p:pic>
        <p:nvPicPr>
          <p:cNvPr id="5" name="Picture 4" descr="Graphical user interface, application&#10;&#10;Description automatically generated">
            <a:extLst>
              <a:ext uri="{FF2B5EF4-FFF2-40B4-BE49-F238E27FC236}">
                <a16:creationId xmlns:a16="http://schemas.microsoft.com/office/drawing/2014/main" id="{B10C8F04-BAE8-4A52-8768-75071E8C1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389" y="958418"/>
            <a:ext cx="6951222" cy="5899582"/>
          </a:xfrm>
          <a:prstGeom prst="rect">
            <a:avLst/>
          </a:prstGeom>
        </p:spPr>
      </p:pic>
    </p:spTree>
    <p:extLst>
      <p:ext uri="{BB962C8B-B14F-4D97-AF65-F5344CB8AC3E}">
        <p14:creationId xmlns:p14="http://schemas.microsoft.com/office/powerpoint/2010/main" val="718355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1C63-4FDE-4236-80E9-56994F61356A}"/>
              </a:ext>
            </a:extLst>
          </p:cNvPr>
          <p:cNvSpPr>
            <a:spLocks noGrp="1"/>
          </p:cNvSpPr>
          <p:nvPr>
            <p:ph type="ctrTitle"/>
          </p:nvPr>
        </p:nvSpPr>
        <p:spPr/>
        <p:txBody>
          <a:bodyPr/>
          <a:lstStyle/>
          <a:p>
            <a:endParaRPr lang="en-GB"/>
          </a:p>
        </p:txBody>
      </p:sp>
      <p:sp>
        <p:nvSpPr>
          <p:cNvPr id="3" name="Text Placeholder 2">
            <a:extLst>
              <a:ext uri="{FF2B5EF4-FFF2-40B4-BE49-F238E27FC236}">
                <a16:creationId xmlns:a16="http://schemas.microsoft.com/office/drawing/2014/main" id="{6D3A1AAC-13F4-47BE-BC5A-4C454944580D}"/>
              </a:ext>
            </a:extLst>
          </p:cNvPr>
          <p:cNvSpPr>
            <a:spLocks noGrp="1"/>
          </p:cNvSpPr>
          <p:nvPr>
            <p:ph type="body" sz="quarter" idx="14"/>
          </p:nvPr>
        </p:nvSpPr>
        <p:spPr/>
        <p:txBody>
          <a:bodyPr/>
          <a:lstStyle/>
          <a:p>
            <a:endParaRPr lang="en-GB" dirty="0"/>
          </a:p>
        </p:txBody>
      </p:sp>
      <p:pic>
        <p:nvPicPr>
          <p:cNvPr id="5" name="Picture 4" descr="Graphical user interface, chart&#10;&#10;Description automatically generated">
            <a:extLst>
              <a:ext uri="{FF2B5EF4-FFF2-40B4-BE49-F238E27FC236}">
                <a16:creationId xmlns:a16="http://schemas.microsoft.com/office/drawing/2014/main" id="{920F8650-DFB8-456C-8BE2-897777CB2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408" y="1844677"/>
            <a:ext cx="8226303" cy="4752975"/>
          </a:xfrm>
          <a:prstGeom prst="rect">
            <a:avLst/>
          </a:prstGeom>
        </p:spPr>
      </p:pic>
    </p:spTree>
    <p:extLst>
      <p:ext uri="{BB962C8B-B14F-4D97-AF65-F5344CB8AC3E}">
        <p14:creationId xmlns:p14="http://schemas.microsoft.com/office/powerpoint/2010/main" val="697605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764FD-4F7B-4486-92A1-BA950A13FFCE}"/>
              </a:ext>
            </a:extLst>
          </p:cNvPr>
          <p:cNvSpPr>
            <a:spLocks noGrp="1"/>
          </p:cNvSpPr>
          <p:nvPr>
            <p:ph type="ctrTitle"/>
          </p:nvPr>
        </p:nvSpPr>
        <p:spPr/>
        <p:txBody>
          <a:bodyPr/>
          <a:lstStyle/>
          <a:p>
            <a:r>
              <a:rPr lang="en-GB" dirty="0"/>
              <a:t>Switching on grid lines and labelling the axes.</a:t>
            </a:r>
          </a:p>
        </p:txBody>
      </p:sp>
      <p:sp>
        <p:nvSpPr>
          <p:cNvPr id="3" name="Text Placeholder 2">
            <a:extLst>
              <a:ext uri="{FF2B5EF4-FFF2-40B4-BE49-F238E27FC236}">
                <a16:creationId xmlns:a16="http://schemas.microsoft.com/office/drawing/2014/main" id="{3FCD6107-5294-4856-93E9-1E7407A550D5}"/>
              </a:ext>
            </a:extLst>
          </p:cNvPr>
          <p:cNvSpPr>
            <a:spLocks noGrp="1"/>
          </p:cNvSpPr>
          <p:nvPr>
            <p:ph type="body" sz="quarter" idx="14"/>
          </p:nvPr>
        </p:nvSpPr>
        <p:spPr/>
        <p:txBody>
          <a:bodyPr/>
          <a:lstStyle/>
          <a:p>
            <a:endParaRPr lang="en-GB" dirty="0"/>
          </a:p>
        </p:txBody>
      </p:sp>
      <p:pic>
        <p:nvPicPr>
          <p:cNvPr id="5" name="Picture 4" descr="Chart, line chart&#10;&#10;Description automatically generated">
            <a:extLst>
              <a:ext uri="{FF2B5EF4-FFF2-40B4-BE49-F238E27FC236}">
                <a16:creationId xmlns:a16="http://schemas.microsoft.com/office/drawing/2014/main" id="{4D5A6CCE-6CE1-42B5-8460-8E20E0F64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81" y="1844677"/>
            <a:ext cx="9144000" cy="3883906"/>
          </a:xfrm>
          <a:prstGeom prst="rect">
            <a:avLst/>
          </a:prstGeom>
        </p:spPr>
      </p:pic>
    </p:spTree>
    <p:extLst>
      <p:ext uri="{BB962C8B-B14F-4D97-AF65-F5344CB8AC3E}">
        <p14:creationId xmlns:p14="http://schemas.microsoft.com/office/powerpoint/2010/main" val="188815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80A18-F53F-4EA1-85C1-0719DC6C7DAD}"/>
              </a:ext>
            </a:extLst>
          </p:cNvPr>
          <p:cNvSpPr>
            <a:spLocks noGrp="1"/>
          </p:cNvSpPr>
          <p:nvPr>
            <p:ph type="ctrTitle"/>
          </p:nvPr>
        </p:nvSpPr>
        <p:spPr/>
        <p:txBody>
          <a:bodyPr/>
          <a:lstStyle/>
          <a:p>
            <a:r>
              <a:rPr lang="en-GB" dirty="0"/>
              <a:t>Adding a command (line 11) to increase the font size.</a:t>
            </a:r>
          </a:p>
        </p:txBody>
      </p:sp>
      <p:sp>
        <p:nvSpPr>
          <p:cNvPr id="3" name="Text Placeholder 2">
            <a:extLst>
              <a:ext uri="{FF2B5EF4-FFF2-40B4-BE49-F238E27FC236}">
                <a16:creationId xmlns:a16="http://schemas.microsoft.com/office/drawing/2014/main" id="{690C04E2-419D-4969-AFFD-EA82890BC72C}"/>
              </a:ext>
            </a:extLst>
          </p:cNvPr>
          <p:cNvSpPr>
            <a:spLocks noGrp="1"/>
          </p:cNvSpPr>
          <p:nvPr>
            <p:ph type="body" sz="quarter" idx="14"/>
          </p:nvPr>
        </p:nvSpPr>
        <p:spPr/>
        <p:txBody>
          <a:bodyPr/>
          <a:lstStyle/>
          <a:p>
            <a:endParaRPr lang="en-GB" dirty="0"/>
          </a:p>
        </p:txBody>
      </p:sp>
      <p:pic>
        <p:nvPicPr>
          <p:cNvPr id="5" name="Picture 4" descr="Chart&#10;&#10;Description automatically generated">
            <a:extLst>
              <a:ext uri="{FF2B5EF4-FFF2-40B4-BE49-F238E27FC236}">
                <a16:creationId xmlns:a16="http://schemas.microsoft.com/office/drawing/2014/main" id="{C2D7CD5C-C9EC-4EDD-8E77-1954CAB04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4677"/>
            <a:ext cx="9144000" cy="3545632"/>
          </a:xfrm>
          <a:prstGeom prst="rect">
            <a:avLst/>
          </a:prstGeom>
        </p:spPr>
      </p:pic>
    </p:spTree>
    <p:extLst>
      <p:ext uri="{BB962C8B-B14F-4D97-AF65-F5344CB8AC3E}">
        <p14:creationId xmlns:p14="http://schemas.microsoft.com/office/powerpoint/2010/main" val="211038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Instructions for the Mixer</a:t>
            </a:r>
            <a:br>
              <a:rPr lang="en-GB" dirty="0"/>
            </a:br>
            <a:br>
              <a:rPr lang="en-GB" dirty="0"/>
            </a:br>
            <a:r>
              <a:rPr lang="en-GB" dirty="0"/>
              <a:t>Task (1)</a:t>
            </a:r>
          </a:p>
        </p:txBody>
      </p:sp>
      <mc:AlternateContent xmlns:mc="http://schemas.openxmlformats.org/markup-compatibility/2006">
        <mc:Choice xmlns:a14="http://schemas.microsoft.com/office/drawing/2010/main" Requires="a14">
          <p:sp>
            <p:nvSpPr>
              <p:cNvPr id="3" name="Text Placeholder 2"/>
              <p:cNvSpPr>
                <a:spLocks noGrp="1"/>
              </p:cNvSpPr>
              <p:nvPr>
                <p:ph type="body" sz="quarter" idx="14"/>
              </p:nvPr>
            </p:nvSpPr>
            <p:spPr/>
            <p:txBody>
              <a:bodyPr/>
              <a:lstStyle/>
              <a:p>
                <a:pPr marL="457200" indent="-457200">
                  <a:buFont typeface="+mj-lt"/>
                  <a:buAutoNum type="arabicPeriod"/>
                </a:pPr>
                <a:r>
                  <a:rPr lang="en-GB" dirty="0"/>
                  <a:t>Create a variable “dt” and give it a value 0.2 ns.</a:t>
                </a:r>
              </a:p>
              <a:p>
                <a:pPr lvl="1"/>
                <a:r>
                  <a:rPr lang="en-GB" sz="1800" dirty="0"/>
                  <a:t>This is the time step</a:t>
                </a:r>
              </a:p>
              <a:p>
                <a:pPr marL="457200" indent="-457200">
                  <a:buFont typeface="+mj-lt"/>
                  <a:buAutoNum type="arabicPeriod"/>
                </a:pPr>
                <a:r>
                  <a:rPr lang="en-GB" dirty="0"/>
                  <a:t>Create an array called “t” and define it as time = 0 : dt : 0.1e-6;</a:t>
                </a:r>
              </a:p>
              <a:p>
                <a:pPr lvl="1"/>
                <a:r>
                  <a:rPr lang="en-GB" sz="1800" dirty="0"/>
                  <a:t>This gives us a time vector</a:t>
                </a:r>
              </a:p>
              <a:p>
                <a:pPr marL="457200" indent="-457200">
                  <a:buFont typeface="+mj-lt"/>
                  <a:buAutoNum type="arabicPeriod"/>
                </a:pPr>
                <a:r>
                  <a:rPr lang="en-GB" dirty="0"/>
                  <a:t>We have two frequencies, f1 = 100 MHz, and f2 = 170 </a:t>
                </a:r>
                <a:r>
                  <a:rPr lang="en-GB" dirty="0" err="1"/>
                  <a:t>MHz.</a:t>
                </a:r>
                <a:endParaRPr lang="en-GB" dirty="0"/>
              </a:p>
              <a:p>
                <a:pPr marL="757238" lvl="1" indent="-457200"/>
                <a:r>
                  <a:rPr lang="en-GB" sz="1800" dirty="0"/>
                  <a:t>These represent the two input frequencies for the mixer</a:t>
                </a:r>
              </a:p>
              <a:p>
                <a:pPr marL="457200" indent="-457200">
                  <a:buFont typeface="+mj-lt"/>
                  <a:buAutoNum type="arabicPeriod"/>
                </a:pPr>
                <a:r>
                  <a:rPr lang="en-GB" dirty="0"/>
                  <a:t>Evaluate </a:t>
                </a:r>
                <a14:m>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𝜋</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1</m:t>
                                </m:r>
                              </m:sub>
                            </m:sSub>
                            <m:r>
                              <a:rPr lang="en-GB" b="0" i="1" smtClean="0">
                                <a:latin typeface="Cambria Math" panose="02040503050406030204" pitchFamily="18" charset="0"/>
                              </a:rPr>
                              <m:t>𝑡</m:t>
                            </m:r>
                          </m:e>
                        </m:d>
                      </m:e>
                    </m:func>
                  </m:oMath>
                </a14:m>
                <a:r>
                  <a:rPr lang="en-GB" dirty="0"/>
                  <a:t> and </a:t>
                </a:r>
                <a14:m>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𝜋</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2</m:t>
                                </m:r>
                              </m:sub>
                            </m:sSub>
                            <m:r>
                              <a:rPr lang="en-GB" b="0" i="1" smtClean="0">
                                <a:latin typeface="Cambria Math" panose="02040503050406030204" pitchFamily="18" charset="0"/>
                              </a:rPr>
                              <m:t>𝑡</m:t>
                            </m:r>
                          </m:e>
                        </m:d>
                      </m:e>
                    </m:func>
                  </m:oMath>
                </a14:m>
                <a:r>
                  <a:rPr lang="en-GB" b="0" dirty="0"/>
                  <a:t> and call them S1 and S2</a:t>
                </a:r>
              </a:p>
              <a:p>
                <a:pPr marL="457200" indent="-457200">
                  <a:buFont typeface="+mj-lt"/>
                  <a:buAutoNum type="arabicPeriod"/>
                </a:pPr>
                <a:r>
                  <a:rPr lang="en-GB" dirty="0"/>
                  <a:t>Evaluate </a:t>
                </a:r>
                <a14:m>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𝜋</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1</m:t>
                                </m:r>
                              </m:sub>
                            </m:sSub>
                            <m:r>
                              <a:rPr lang="en-GB" b="0" i="1" smtClean="0">
                                <a:latin typeface="Cambria Math" panose="02040503050406030204" pitchFamily="18" charset="0"/>
                              </a:rPr>
                              <m:t>𝑡</m:t>
                            </m:r>
                          </m:e>
                        </m:d>
                      </m:e>
                    </m:func>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𝜋</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2</m:t>
                                </m:r>
                              </m:sub>
                            </m:sSub>
                            <m:r>
                              <a:rPr lang="en-GB" b="0" i="1" smtClean="0">
                                <a:latin typeface="Cambria Math" panose="02040503050406030204" pitchFamily="18" charset="0"/>
                              </a:rPr>
                              <m:t>𝑡</m:t>
                            </m:r>
                          </m:e>
                        </m:d>
                      </m:e>
                    </m:func>
                  </m:oMath>
                </a14:m>
                <a:r>
                  <a:rPr lang="en-GB" dirty="0"/>
                  <a:t> call this S3</a:t>
                </a:r>
              </a:p>
              <a:p>
                <a:pPr marL="457200" indent="-457200">
                  <a:buFont typeface="+mj-lt"/>
                  <a:buAutoNum type="arabicPeriod"/>
                </a:pPr>
                <a:r>
                  <a:rPr lang="en-GB" u="sng" dirty="0"/>
                  <a:t>Plot </a:t>
                </a:r>
                <a14:m>
                  <m:oMath xmlns:m="http://schemas.openxmlformats.org/officeDocument/2006/math">
                    <m:r>
                      <a:rPr lang="en-GB" b="0" i="1" u="sng" smtClean="0">
                        <a:latin typeface="Cambria Math" panose="02040503050406030204" pitchFamily="18" charset="0"/>
                      </a:rPr>
                      <m:t>𝑆</m:t>
                    </m:r>
                    <m:r>
                      <a:rPr lang="en-GB" b="0" i="1" u="sng" smtClean="0">
                        <a:latin typeface="Cambria Math" panose="02040503050406030204" pitchFamily="18" charset="0"/>
                      </a:rPr>
                      <m:t>1</m:t>
                    </m:r>
                  </m:oMath>
                </a14:m>
                <a:r>
                  <a:rPr lang="en-GB" u="sng" dirty="0"/>
                  <a:t>, </a:t>
                </a:r>
                <a14:m>
                  <m:oMath xmlns:m="http://schemas.openxmlformats.org/officeDocument/2006/math">
                    <m:r>
                      <a:rPr lang="en-GB" b="0" i="1" u="sng" smtClean="0">
                        <a:latin typeface="Cambria Math" panose="02040503050406030204" pitchFamily="18" charset="0"/>
                      </a:rPr>
                      <m:t>𝑆</m:t>
                    </m:r>
                    <m:r>
                      <a:rPr lang="en-GB" b="0" i="1" u="sng" smtClean="0">
                        <a:latin typeface="Cambria Math" panose="02040503050406030204" pitchFamily="18" charset="0"/>
                      </a:rPr>
                      <m:t>2</m:t>
                    </m:r>
                  </m:oMath>
                </a14:m>
                <a:r>
                  <a:rPr lang="en-GB" u="sng" dirty="0"/>
                  <a:t>, and S3, as separate plots. </a:t>
                </a:r>
              </a:p>
              <a:p>
                <a:pPr marL="457200" indent="-457200">
                  <a:buFont typeface="+mj-lt"/>
                  <a:buAutoNum type="arabicPeriod"/>
                </a:pPr>
                <a:endParaRPr lang="en-GB" dirty="0"/>
              </a:p>
            </p:txBody>
          </p:sp>
        </mc:Choice>
        <mc:Fallback>
          <p:sp>
            <p:nvSpPr>
              <p:cNvPr id="3" name="Text Placeholder 2"/>
              <p:cNvSpPr>
                <a:spLocks noGrp="1" noRot="1" noChangeAspect="1" noMove="1" noResize="1" noEditPoints="1" noAdjustHandles="1" noChangeArrowheads="1" noChangeShapeType="1" noTextEdit="1"/>
              </p:cNvSpPr>
              <p:nvPr>
                <p:ph type="body" sz="quarter" idx="14"/>
              </p:nvPr>
            </p:nvSpPr>
            <p:spPr>
              <a:blipFill>
                <a:blip r:embed="rId2"/>
                <a:stretch>
                  <a:fillRect l="-796" t="-899"/>
                </a:stretch>
              </a:blipFill>
            </p:spPr>
            <p:txBody>
              <a:bodyPr/>
              <a:lstStyle/>
              <a:p>
                <a:r>
                  <a:rPr lang="en-GB">
                    <a:noFill/>
                  </a:rPr>
                  <a:t> </a:t>
                </a:r>
              </a:p>
            </p:txBody>
          </p:sp>
        </mc:Fallback>
      </mc:AlternateContent>
    </p:spTree>
    <p:extLst>
      <p:ext uri="{BB962C8B-B14F-4D97-AF65-F5344CB8AC3E}">
        <p14:creationId xmlns:p14="http://schemas.microsoft.com/office/powerpoint/2010/main" val="3973353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F87BA-7E23-4804-B59F-64AD03666D5F}"/>
              </a:ext>
            </a:extLst>
          </p:cNvPr>
          <p:cNvSpPr>
            <a:spLocks noGrp="1"/>
          </p:cNvSpPr>
          <p:nvPr>
            <p:ph type="ctrTitle"/>
          </p:nvPr>
        </p:nvSpPr>
        <p:spPr/>
        <p:txBody>
          <a:bodyPr/>
          <a:lstStyle/>
          <a:p>
            <a:r>
              <a:rPr lang="en-GB" dirty="0"/>
              <a:t>Take the Fourier Transform of the three signals generated.</a:t>
            </a:r>
          </a:p>
        </p:txBody>
      </p:sp>
      <p:sp>
        <p:nvSpPr>
          <p:cNvPr id="3" name="Text Placeholder 2">
            <a:extLst>
              <a:ext uri="{FF2B5EF4-FFF2-40B4-BE49-F238E27FC236}">
                <a16:creationId xmlns:a16="http://schemas.microsoft.com/office/drawing/2014/main" id="{57440345-1BB9-4375-9593-3B158841610B}"/>
              </a:ext>
            </a:extLst>
          </p:cNvPr>
          <p:cNvSpPr>
            <a:spLocks noGrp="1"/>
          </p:cNvSpPr>
          <p:nvPr>
            <p:ph type="body" sz="quarter" idx="14"/>
          </p:nvPr>
        </p:nvSpPr>
        <p:spPr/>
        <p:txBody>
          <a:bodyPr/>
          <a:lstStyle/>
          <a:p>
            <a:r>
              <a:rPr lang="en-GB" dirty="0"/>
              <a:t>Hint: You may find it useful to use the example code below for the Fourier Transform. Take some time to understand the commands.</a:t>
            </a:r>
          </a:p>
          <a:p>
            <a:endParaRPr lang="en-GB" dirty="0"/>
          </a:p>
          <a:p>
            <a:pPr marL="0" indent="0">
              <a:buNone/>
            </a:pPr>
            <a:r>
              <a:rPr lang="en-GB" dirty="0" err="1"/>
              <a:t>time_between_samples</a:t>
            </a:r>
            <a:r>
              <a:rPr lang="en-GB" dirty="0"/>
              <a:t> = (t(end)-t(1))/length(t);</a:t>
            </a:r>
          </a:p>
          <a:p>
            <a:pPr marL="0" indent="0">
              <a:buNone/>
            </a:pPr>
            <a:r>
              <a:rPr lang="en-GB" dirty="0" err="1"/>
              <a:t>sampling_frequency</a:t>
            </a:r>
            <a:r>
              <a:rPr lang="en-GB" dirty="0"/>
              <a:t> = 1/</a:t>
            </a:r>
            <a:r>
              <a:rPr lang="en-GB" dirty="0" err="1"/>
              <a:t>time_between_samples</a:t>
            </a:r>
            <a:endParaRPr lang="en-GB" dirty="0"/>
          </a:p>
          <a:p>
            <a:pPr marL="0" indent="0">
              <a:buNone/>
            </a:pPr>
            <a:r>
              <a:rPr lang="en-GB" dirty="0"/>
              <a:t> </a:t>
            </a:r>
            <a:r>
              <a:rPr lang="en-GB" dirty="0" err="1"/>
              <a:t>fft_b</a:t>
            </a:r>
            <a:r>
              <a:rPr lang="en-GB" dirty="0"/>
              <a:t> = </a:t>
            </a:r>
            <a:r>
              <a:rPr lang="en-GB" dirty="0" err="1"/>
              <a:t>fft</a:t>
            </a:r>
            <a:r>
              <a:rPr lang="en-GB" dirty="0"/>
              <a:t>(S3);</a:t>
            </a:r>
          </a:p>
          <a:p>
            <a:pPr marL="0" indent="0">
              <a:buNone/>
            </a:pPr>
            <a:r>
              <a:rPr lang="en-GB" dirty="0"/>
              <a:t>x1 = -floor(length(t)/2):floor(length(t)/2);</a:t>
            </a:r>
          </a:p>
          <a:p>
            <a:pPr marL="0" indent="0">
              <a:buNone/>
            </a:pPr>
            <a:r>
              <a:rPr lang="en-GB" dirty="0"/>
              <a:t>df1 = sampling_frequency1/length(x1);</a:t>
            </a:r>
          </a:p>
          <a:p>
            <a:pPr marL="0" indent="0">
              <a:buNone/>
            </a:pPr>
            <a:r>
              <a:rPr lang="en-GB" dirty="0"/>
              <a:t>figure(8);</a:t>
            </a:r>
          </a:p>
          <a:p>
            <a:pPr marL="0" indent="0">
              <a:buNone/>
            </a:pPr>
            <a:r>
              <a:rPr lang="en-GB" dirty="0"/>
              <a:t>EV = (</a:t>
            </a:r>
            <a:r>
              <a:rPr lang="en-GB" dirty="0" err="1"/>
              <a:t>ifftshift</a:t>
            </a:r>
            <a:r>
              <a:rPr lang="en-GB" dirty="0"/>
              <a:t>(abs(</a:t>
            </a:r>
            <a:r>
              <a:rPr lang="en-GB" dirty="0" err="1"/>
              <a:t>fft_b</a:t>
            </a:r>
            <a:r>
              <a:rPr lang="en-GB" dirty="0"/>
              <a:t>)))./(length(x1)/2);</a:t>
            </a:r>
          </a:p>
          <a:p>
            <a:pPr marL="0" indent="0">
              <a:buNone/>
            </a:pPr>
            <a:r>
              <a:rPr lang="en-GB" dirty="0"/>
              <a:t>plot((x1-1)*df1./1e6,  EV  ); set(gca,'fontsize',24);</a:t>
            </a:r>
          </a:p>
          <a:p>
            <a:pPr marL="0" indent="0">
              <a:buNone/>
            </a:pPr>
            <a:r>
              <a:rPr lang="en-GB" dirty="0"/>
              <a:t>grid on; </a:t>
            </a:r>
            <a:r>
              <a:rPr lang="en-GB" dirty="0" err="1"/>
              <a:t>xlabel</a:t>
            </a:r>
            <a:r>
              <a:rPr lang="en-GB" dirty="0"/>
              <a:t>('Frequency (MHz)');</a:t>
            </a:r>
          </a:p>
          <a:p>
            <a:endParaRPr lang="en-GB" dirty="0"/>
          </a:p>
          <a:p>
            <a:endParaRPr lang="en-GB" dirty="0"/>
          </a:p>
        </p:txBody>
      </p:sp>
    </p:spTree>
    <p:extLst>
      <p:ext uri="{BB962C8B-B14F-4D97-AF65-F5344CB8AC3E}">
        <p14:creationId xmlns:p14="http://schemas.microsoft.com/office/powerpoint/2010/main" val="2476104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688C-D293-498B-A348-48B5E67F1337}"/>
              </a:ext>
            </a:extLst>
          </p:cNvPr>
          <p:cNvSpPr>
            <a:spLocks noGrp="1"/>
          </p:cNvSpPr>
          <p:nvPr>
            <p:ph type="ctrTitle"/>
          </p:nvPr>
        </p:nvSpPr>
        <p:spPr/>
        <p:txBody>
          <a:bodyPr/>
          <a:lstStyle/>
          <a:p>
            <a:r>
              <a:rPr lang="en-GB" dirty="0"/>
              <a:t>Some Tips:</a:t>
            </a:r>
          </a:p>
        </p:txBody>
      </p:sp>
      <p:sp>
        <p:nvSpPr>
          <p:cNvPr id="3" name="Text Placeholder 2">
            <a:extLst>
              <a:ext uri="{FF2B5EF4-FFF2-40B4-BE49-F238E27FC236}">
                <a16:creationId xmlns:a16="http://schemas.microsoft.com/office/drawing/2014/main" id="{4686C7FF-819E-465D-8A75-D3D717631732}"/>
              </a:ext>
            </a:extLst>
          </p:cNvPr>
          <p:cNvSpPr>
            <a:spLocks noGrp="1"/>
          </p:cNvSpPr>
          <p:nvPr>
            <p:ph type="body" sz="quarter" idx="14"/>
          </p:nvPr>
        </p:nvSpPr>
        <p:spPr/>
        <p:txBody>
          <a:bodyPr/>
          <a:lstStyle/>
          <a:p>
            <a:r>
              <a:rPr lang="en-GB" dirty="0"/>
              <a:t>When you are unsure about a command in </a:t>
            </a:r>
            <a:r>
              <a:rPr lang="en-GB" dirty="0" err="1"/>
              <a:t>Matlab</a:t>
            </a:r>
            <a:r>
              <a:rPr lang="en-GB" dirty="0"/>
              <a:t> you can type “help” into the command line followed by the command, and </a:t>
            </a:r>
            <a:r>
              <a:rPr lang="en-GB" dirty="0" err="1"/>
              <a:t>Matlab</a:t>
            </a:r>
            <a:r>
              <a:rPr lang="en-GB" dirty="0"/>
              <a:t> will describe the use of the function, for example: </a:t>
            </a:r>
          </a:p>
          <a:p>
            <a:pPr lvl="2"/>
            <a:r>
              <a:rPr lang="en-GB" dirty="0">
                <a:solidFill>
                  <a:schemeClr val="tx2">
                    <a:lumMod val="60000"/>
                    <a:lumOff val="40000"/>
                  </a:schemeClr>
                </a:solidFill>
              </a:rPr>
              <a:t>help floor</a:t>
            </a:r>
          </a:p>
          <a:p>
            <a:pPr marL="685800" lvl="2" indent="0">
              <a:buNone/>
            </a:pPr>
            <a:r>
              <a:rPr lang="en-GB" dirty="0">
                <a:solidFill>
                  <a:srgbClr val="FF0000"/>
                </a:solidFill>
              </a:rPr>
              <a:t>“floor(X) rounds the elements of X to the nearest integers</a:t>
            </a:r>
          </a:p>
          <a:p>
            <a:pPr marL="685800" lvl="2" indent="0">
              <a:buNone/>
            </a:pPr>
            <a:r>
              <a:rPr lang="en-GB" dirty="0">
                <a:solidFill>
                  <a:srgbClr val="FF0000"/>
                </a:solidFill>
              </a:rPr>
              <a:t>  towards minus infinity.”</a:t>
            </a:r>
          </a:p>
          <a:p>
            <a:r>
              <a:rPr lang="en-GB" dirty="0"/>
              <a:t>The length of a vector can be checked using the length command.</a:t>
            </a:r>
          </a:p>
          <a:p>
            <a:pPr lvl="1"/>
            <a:r>
              <a:rPr lang="en-GB" dirty="0"/>
              <a:t>For instance “length(x1)”. </a:t>
            </a:r>
          </a:p>
          <a:p>
            <a:r>
              <a:rPr lang="en-GB" dirty="0"/>
              <a:t>To present more clearly after the plot command the following command can be used to only show a certain region of the plot.</a:t>
            </a:r>
          </a:p>
          <a:p>
            <a:r>
              <a:rPr lang="pt-BR" dirty="0"/>
              <a:t>axis([0 500 0 1]);</a:t>
            </a:r>
          </a:p>
          <a:p>
            <a:endParaRPr lang="pt-BR" dirty="0"/>
          </a:p>
          <a:p>
            <a:endParaRPr lang="pt-BR" dirty="0"/>
          </a:p>
          <a:p>
            <a:endParaRPr lang="en-GB" dirty="0"/>
          </a:p>
        </p:txBody>
      </p:sp>
    </p:spTree>
    <p:extLst>
      <p:ext uri="{BB962C8B-B14F-4D97-AF65-F5344CB8AC3E}">
        <p14:creationId xmlns:p14="http://schemas.microsoft.com/office/powerpoint/2010/main" val="2536893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4BDE-D2BA-455F-B74C-50E84EFA1EE9}"/>
              </a:ext>
            </a:extLst>
          </p:cNvPr>
          <p:cNvSpPr>
            <a:spLocks noGrp="1"/>
          </p:cNvSpPr>
          <p:nvPr>
            <p:ph type="ctrTitle"/>
          </p:nvPr>
        </p:nvSpPr>
        <p:spPr/>
        <p:txBody>
          <a:bodyPr/>
          <a:lstStyle/>
          <a:p>
            <a:br>
              <a:rPr lang="en-GB" dirty="0"/>
            </a:br>
            <a:br>
              <a:rPr lang="en-GB" dirty="0"/>
            </a:br>
            <a:r>
              <a:rPr lang="en-GB" dirty="0"/>
              <a:t>Task (2)</a:t>
            </a:r>
          </a:p>
        </p:txBody>
      </p:sp>
      <p:sp>
        <p:nvSpPr>
          <p:cNvPr id="3" name="Text Placeholder 2">
            <a:extLst>
              <a:ext uri="{FF2B5EF4-FFF2-40B4-BE49-F238E27FC236}">
                <a16:creationId xmlns:a16="http://schemas.microsoft.com/office/drawing/2014/main" id="{E3EC417C-3CB8-4C85-A27D-D8597751E24B}"/>
              </a:ext>
            </a:extLst>
          </p:cNvPr>
          <p:cNvSpPr>
            <a:spLocks noGrp="1"/>
          </p:cNvSpPr>
          <p:nvPr>
            <p:ph type="body" sz="quarter" idx="14"/>
          </p:nvPr>
        </p:nvSpPr>
        <p:spPr/>
        <p:txBody>
          <a:bodyPr/>
          <a:lstStyle/>
          <a:p>
            <a:r>
              <a:rPr lang="en-GB" dirty="0"/>
              <a:t>Plot on three separate figures the Fourier Transforms of S1, S2, and S3.</a:t>
            </a:r>
          </a:p>
        </p:txBody>
      </p:sp>
    </p:spTree>
    <p:extLst>
      <p:ext uri="{BB962C8B-B14F-4D97-AF65-F5344CB8AC3E}">
        <p14:creationId xmlns:p14="http://schemas.microsoft.com/office/powerpoint/2010/main" val="1228704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5BA8E-00AD-409A-BD96-4E733913E828}"/>
              </a:ext>
            </a:extLst>
          </p:cNvPr>
          <p:cNvSpPr>
            <a:spLocks noGrp="1"/>
          </p:cNvSpPr>
          <p:nvPr>
            <p:ph type="ctrTitle"/>
          </p:nvPr>
        </p:nvSpPr>
        <p:spPr/>
        <p:txBody>
          <a:bodyPr/>
          <a:lstStyle/>
          <a:p>
            <a:r>
              <a:rPr lang="en-GB" dirty="0"/>
              <a:t>Derive the Transfer Functions (</a:t>
            </a:r>
            <a:r>
              <a:rPr lang="en-GB" dirty="0" err="1"/>
              <a:t>V</a:t>
            </a:r>
            <a:r>
              <a:rPr lang="en-GB" sz="2000" dirty="0" err="1"/>
              <a:t>out</a:t>
            </a:r>
            <a:r>
              <a:rPr lang="en-GB" dirty="0"/>
              <a:t>/V</a:t>
            </a:r>
            <a:r>
              <a:rPr lang="en-GB" sz="2000" dirty="0"/>
              <a:t>in</a:t>
            </a:r>
            <a:r>
              <a:rPr lang="en-GB" dirty="0"/>
              <a:t>) for the following circuits as a function of frequency:</a:t>
            </a:r>
            <a:br>
              <a:rPr lang="en-GB" dirty="0"/>
            </a:br>
            <a:r>
              <a:rPr lang="en-GB" dirty="0"/>
              <a:t>R = 50 </a:t>
            </a:r>
            <a:r>
              <a:rPr lang="el-GR" dirty="0"/>
              <a:t>Ω</a:t>
            </a:r>
            <a:r>
              <a:rPr lang="en-GB" dirty="0"/>
              <a:t>, C = 25 pF, L = 0.05 µH</a:t>
            </a:r>
          </a:p>
        </p:txBody>
      </p:sp>
      <p:sp>
        <p:nvSpPr>
          <p:cNvPr id="3" name="Text Placeholder 2">
            <a:extLst>
              <a:ext uri="{FF2B5EF4-FFF2-40B4-BE49-F238E27FC236}">
                <a16:creationId xmlns:a16="http://schemas.microsoft.com/office/drawing/2014/main" id="{30872F56-17E0-4F2A-984A-6E3ABE7A2202}"/>
              </a:ext>
            </a:extLst>
          </p:cNvPr>
          <p:cNvSpPr>
            <a:spLocks noGrp="1"/>
          </p:cNvSpPr>
          <p:nvPr>
            <p:ph type="body" sz="quarter" idx="14"/>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5" name="Picture 4" descr="Chart, box and whisker chart&#10;&#10;Description automatically generated">
            <a:extLst>
              <a:ext uri="{FF2B5EF4-FFF2-40B4-BE49-F238E27FC236}">
                <a16:creationId xmlns:a16="http://schemas.microsoft.com/office/drawing/2014/main" id="{1057A4B8-5312-4481-8F19-37CDB955B8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289" y="1896250"/>
            <a:ext cx="3981605" cy="1851810"/>
          </a:xfrm>
          <a:prstGeom prst="rect">
            <a:avLst/>
          </a:prstGeom>
        </p:spPr>
      </p:pic>
      <p:pic>
        <p:nvPicPr>
          <p:cNvPr id="7" name="Picture 6" descr="Diagram&#10;&#10;Description automatically generated">
            <a:extLst>
              <a:ext uri="{FF2B5EF4-FFF2-40B4-BE49-F238E27FC236}">
                <a16:creationId xmlns:a16="http://schemas.microsoft.com/office/drawing/2014/main" id="{66854290-859B-4E3A-838C-79243E7FA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065" y="1896249"/>
            <a:ext cx="3322774" cy="1851809"/>
          </a:xfrm>
          <a:prstGeom prst="rect">
            <a:avLst/>
          </a:prstGeom>
        </p:spPr>
      </p:pic>
      <p:pic>
        <p:nvPicPr>
          <p:cNvPr id="9" name="Picture 8" descr="Chart, box and whisker chart&#10;&#10;Description automatically generated">
            <a:extLst>
              <a:ext uri="{FF2B5EF4-FFF2-40B4-BE49-F238E27FC236}">
                <a16:creationId xmlns:a16="http://schemas.microsoft.com/office/drawing/2014/main" id="{5C3CEBAD-DCDD-48A9-8846-DEB1074898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10465" y="4252155"/>
            <a:ext cx="5053823" cy="2057165"/>
          </a:xfrm>
          <a:prstGeom prst="rect">
            <a:avLst/>
          </a:prstGeom>
        </p:spPr>
      </p:pic>
    </p:spTree>
    <p:extLst>
      <p:ext uri="{BB962C8B-B14F-4D97-AF65-F5344CB8AC3E}">
        <p14:creationId xmlns:p14="http://schemas.microsoft.com/office/powerpoint/2010/main" val="4151193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8D95-7F99-4C65-B1D6-F177DE868537}"/>
              </a:ext>
            </a:extLst>
          </p:cNvPr>
          <p:cNvSpPr>
            <a:spLocks noGrp="1"/>
          </p:cNvSpPr>
          <p:nvPr>
            <p:ph type="ctrTitle"/>
          </p:nvPr>
        </p:nvSpPr>
        <p:spPr/>
        <p:txBody>
          <a:bodyPr/>
          <a:lstStyle/>
          <a:p>
            <a:br>
              <a:rPr lang="en-GB" dirty="0"/>
            </a:br>
            <a:br>
              <a:rPr lang="en-GB" dirty="0"/>
            </a:br>
            <a:r>
              <a:rPr lang="en-GB" dirty="0"/>
              <a:t>Task (3)</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ADF117C8-57DB-434D-8CCE-33A5660C7D24}"/>
                  </a:ext>
                </a:extLst>
              </p:cNvPr>
              <p:cNvSpPr>
                <a:spLocks noGrp="1"/>
              </p:cNvSpPr>
              <p:nvPr>
                <p:ph type="body" sz="quarter" idx="14"/>
              </p:nvPr>
            </p:nvSpPr>
            <p:spPr/>
            <p:txBody>
              <a:bodyPr/>
              <a:lstStyle/>
              <a:p>
                <a:r>
                  <a:rPr lang="en-GB" dirty="0"/>
                  <a:t>Include the expressions for your Transfer Functions for each of the three circuits </a:t>
                </a:r>
                <a14:m>
                  <m:oMath xmlns:m="http://schemas.openxmlformats.org/officeDocument/2006/math">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𝑂𝑢𝑡</m:t>
                            </m:r>
                          </m:sub>
                        </m:sSub>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num>
                      <m:den>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𝑖𝑛</m:t>
                            </m:r>
                          </m:sub>
                        </m:sSub>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den>
                    </m:f>
                  </m:oMath>
                </a14:m>
                <a:r>
                  <a:rPr lang="en-GB" dirty="0"/>
                  <a:t> in your reports.</a:t>
                </a:r>
              </a:p>
              <a:p>
                <a:r>
                  <a:rPr lang="en-GB" dirty="0"/>
                  <a:t>Use Word equation editor to write the equations neatly.</a:t>
                </a:r>
              </a:p>
              <a:p>
                <a:r>
                  <a:rPr lang="en-GB" dirty="0"/>
                  <a:t>Plot the real parts of the figures for each of the three Transfer Functions over a suitable range and include these figures in your report. Save two sets of figures, one with the amplitude (vertical-axis) with a </a:t>
                </a:r>
                <a:r>
                  <a:rPr lang="en-GB" u="sng" dirty="0"/>
                  <a:t>linear scale </a:t>
                </a:r>
                <a:r>
                  <a:rPr lang="en-GB" dirty="0"/>
                  <a:t>and one with the amplitude having a </a:t>
                </a:r>
                <a:r>
                  <a:rPr lang="en-GB" u="sng" dirty="0"/>
                  <a:t>dB scale</a:t>
                </a:r>
                <a:r>
                  <a:rPr lang="en-GB" dirty="0"/>
                  <a:t>.</a:t>
                </a:r>
              </a:p>
              <a:p>
                <a:endParaRPr lang="en-GB" dirty="0"/>
              </a:p>
            </p:txBody>
          </p:sp>
        </mc:Choice>
        <mc:Fallback>
          <p:sp>
            <p:nvSpPr>
              <p:cNvPr id="3" name="Text Placeholder 2">
                <a:extLst>
                  <a:ext uri="{FF2B5EF4-FFF2-40B4-BE49-F238E27FC236}">
                    <a16:creationId xmlns:a16="http://schemas.microsoft.com/office/drawing/2014/main" id="{ADF117C8-57DB-434D-8CCE-33A5660C7D24}"/>
                  </a:ext>
                </a:extLst>
              </p:cNvPr>
              <p:cNvSpPr>
                <a:spLocks noGrp="1" noRot="1" noChangeAspect="1" noMove="1" noResize="1" noEditPoints="1" noAdjustHandles="1" noChangeArrowheads="1" noChangeShapeType="1" noTextEdit="1"/>
              </p:cNvSpPr>
              <p:nvPr>
                <p:ph type="body" sz="quarter" idx="14"/>
              </p:nvPr>
            </p:nvSpPr>
            <p:spPr>
              <a:blipFill>
                <a:blip r:embed="rId2"/>
                <a:stretch>
                  <a:fillRect l="-651" t="-770" r="-796"/>
                </a:stretch>
              </a:blipFill>
            </p:spPr>
            <p:txBody>
              <a:bodyPr/>
              <a:lstStyle/>
              <a:p>
                <a:r>
                  <a:rPr lang="en-GB">
                    <a:noFill/>
                  </a:rPr>
                  <a:t> </a:t>
                </a:r>
              </a:p>
            </p:txBody>
          </p:sp>
        </mc:Fallback>
      </mc:AlternateContent>
    </p:spTree>
    <p:extLst>
      <p:ext uri="{BB962C8B-B14F-4D97-AF65-F5344CB8AC3E}">
        <p14:creationId xmlns:p14="http://schemas.microsoft.com/office/powerpoint/2010/main" val="3599506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C0E3-0EEF-44D9-86D4-2711B27AC8AA}"/>
              </a:ext>
            </a:extLst>
          </p:cNvPr>
          <p:cNvSpPr>
            <a:spLocks noGrp="1"/>
          </p:cNvSpPr>
          <p:nvPr>
            <p:ph type="ctrTitle"/>
          </p:nvPr>
        </p:nvSpPr>
        <p:spPr/>
        <p:txBody>
          <a:bodyPr/>
          <a:lstStyle/>
          <a:p>
            <a:r>
              <a:rPr lang="en-GB" dirty="0"/>
              <a:t>Guidelines on how to present your work: </a:t>
            </a:r>
          </a:p>
        </p:txBody>
      </p:sp>
      <p:sp>
        <p:nvSpPr>
          <p:cNvPr id="3" name="Text Placeholder 2">
            <a:extLst>
              <a:ext uri="{FF2B5EF4-FFF2-40B4-BE49-F238E27FC236}">
                <a16:creationId xmlns:a16="http://schemas.microsoft.com/office/drawing/2014/main" id="{E89C335C-4077-4488-8523-83B9163C9918}"/>
              </a:ext>
            </a:extLst>
          </p:cNvPr>
          <p:cNvSpPr>
            <a:spLocks noGrp="1"/>
          </p:cNvSpPr>
          <p:nvPr>
            <p:ph type="body" sz="quarter" idx="14"/>
          </p:nvPr>
        </p:nvSpPr>
        <p:spPr/>
        <p:txBody>
          <a:bodyPr/>
          <a:lstStyle/>
          <a:p>
            <a:r>
              <a:rPr lang="en-GB" dirty="0"/>
              <a:t>The results of this lab should be written up in Word. </a:t>
            </a:r>
          </a:p>
          <a:p>
            <a:pPr lvl="1"/>
            <a:r>
              <a:rPr lang="en-GB" dirty="0"/>
              <a:t>Equation editor should be used to write down the equations.</a:t>
            </a:r>
          </a:p>
          <a:p>
            <a:pPr lvl="1"/>
            <a:endParaRPr lang="en-GB" dirty="0"/>
          </a:p>
          <a:p>
            <a:r>
              <a:rPr lang="en-GB" dirty="0"/>
              <a:t>For the figures:</a:t>
            </a:r>
          </a:p>
          <a:p>
            <a:pPr lvl="1"/>
            <a:r>
              <a:rPr lang="en-GB" dirty="0"/>
              <a:t>Choose appropriate font sizes.</a:t>
            </a:r>
          </a:p>
          <a:p>
            <a:pPr lvl="1"/>
            <a:r>
              <a:rPr lang="en-GB" dirty="0"/>
              <a:t>Label the horizontal and vertical axes appropriately.</a:t>
            </a:r>
          </a:p>
          <a:p>
            <a:pPr lvl="1"/>
            <a:r>
              <a:rPr lang="en-GB" dirty="0"/>
              <a:t>Include units in the labels.</a:t>
            </a:r>
          </a:p>
          <a:p>
            <a:pPr lvl="1"/>
            <a:endParaRPr lang="en-GB" dirty="0"/>
          </a:p>
          <a:p>
            <a:pPr marL="342900" lvl="1" indent="0">
              <a:buNone/>
            </a:pPr>
            <a:r>
              <a:rPr lang="en-GB" dirty="0">
                <a:solidFill>
                  <a:srgbClr val="C00000"/>
                </a:solidFill>
              </a:rPr>
              <a:t>20% of the marks for this report will be on the overall presentation.</a:t>
            </a:r>
          </a:p>
        </p:txBody>
      </p:sp>
    </p:spTree>
    <p:extLst>
      <p:ext uri="{BB962C8B-B14F-4D97-AF65-F5344CB8AC3E}">
        <p14:creationId xmlns:p14="http://schemas.microsoft.com/office/powerpoint/2010/main" val="756122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18F40-6606-4240-BF54-9A6B13C3E0DB}"/>
              </a:ext>
            </a:extLst>
          </p:cNvPr>
          <p:cNvSpPr>
            <a:spLocks noGrp="1"/>
          </p:cNvSpPr>
          <p:nvPr>
            <p:ph type="ctrTitle"/>
          </p:nvPr>
        </p:nvSpPr>
        <p:spPr/>
        <p:txBody>
          <a:bodyPr/>
          <a:lstStyle/>
          <a:p>
            <a:r>
              <a:rPr lang="en-GB" dirty="0"/>
              <a:t>Task 4: Ring Diode Mixer</a:t>
            </a:r>
          </a:p>
        </p:txBody>
      </p:sp>
      <p:sp>
        <p:nvSpPr>
          <p:cNvPr id="3" name="Text Placeholder 2">
            <a:extLst>
              <a:ext uri="{FF2B5EF4-FFF2-40B4-BE49-F238E27FC236}">
                <a16:creationId xmlns:a16="http://schemas.microsoft.com/office/drawing/2014/main" id="{7E085272-FE32-46ED-AD65-FF1F266664EF}"/>
              </a:ext>
            </a:extLst>
          </p:cNvPr>
          <p:cNvSpPr>
            <a:spLocks noGrp="1"/>
          </p:cNvSpPr>
          <p:nvPr>
            <p:ph type="body" sz="quarter" idx="14"/>
          </p:nvPr>
        </p:nvSpPr>
        <p:spPr/>
        <p:txBody>
          <a:bodyPr/>
          <a:lstStyle/>
          <a:p>
            <a:r>
              <a:rPr lang="en-GB" dirty="0"/>
              <a:t>Using LT Spice build a ring diode mixer circuit and show on separate graphs the output of the IF, LO, and RF and any other parts of the circuit which you think may be interesting to probe.</a:t>
            </a:r>
          </a:p>
          <a:p>
            <a:r>
              <a:rPr lang="en-GB" dirty="0"/>
              <a:t>Suggested values: For inductive coils 0.6 </a:t>
            </a:r>
            <a:r>
              <a:rPr lang="en-GB" dirty="0" err="1"/>
              <a:t>mH</a:t>
            </a:r>
            <a:r>
              <a:rPr lang="en-GB" dirty="0"/>
              <a:t>. For frequencies, let L0 = 130 kHz, RF = 125 kHz.</a:t>
            </a:r>
          </a:p>
          <a:p>
            <a:r>
              <a:rPr lang="en-GB" dirty="0"/>
              <a:t>Remember to include a low pass filter at the IF port of your circuit.</a:t>
            </a:r>
          </a:p>
          <a:p>
            <a:endParaRPr lang="en-GB" dirty="0"/>
          </a:p>
          <a:p>
            <a:endParaRPr lang="en-GB" dirty="0"/>
          </a:p>
        </p:txBody>
      </p:sp>
    </p:spTree>
    <p:extLst>
      <p:ext uri="{BB962C8B-B14F-4D97-AF65-F5344CB8AC3E}">
        <p14:creationId xmlns:p14="http://schemas.microsoft.com/office/powerpoint/2010/main" val="1497140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D07BB-5D3F-4442-8AF6-EBE11D15BFDD}"/>
              </a:ext>
            </a:extLst>
          </p:cNvPr>
          <p:cNvSpPr>
            <a:spLocks noGrp="1"/>
          </p:cNvSpPr>
          <p:nvPr>
            <p:ph type="ctrTitle"/>
          </p:nvPr>
        </p:nvSpPr>
        <p:spPr/>
        <p:txBody>
          <a:bodyPr/>
          <a:lstStyle/>
          <a:p>
            <a:r>
              <a:rPr lang="en-GB" dirty="0"/>
              <a:t>Open LT Spice – Insert an inductor</a:t>
            </a:r>
          </a:p>
        </p:txBody>
      </p:sp>
      <p:sp>
        <p:nvSpPr>
          <p:cNvPr id="3" name="Text Placeholder 2">
            <a:extLst>
              <a:ext uri="{FF2B5EF4-FFF2-40B4-BE49-F238E27FC236}">
                <a16:creationId xmlns:a16="http://schemas.microsoft.com/office/drawing/2014/main" id="{162FC109-0BA4-4F47-A638-E9C8DA79D8F7}"/>
              </a:ext>
            </a:extLst>
          </p:cNvPr>
          <p:cNvSpPr>
            <a:spLocks noGrp="1"/>
          </p:cNvSpPr>
          <p:nvPr>
            <p:ph type="body" sz="quarter" idx="14"/>
          </p:nvPr>
        </p:nvSpPr>
        <p:spPr/>
        <p:txBody>
          <a:bodyPr/>
          <a:lstStyle/>
          <a:p>
            <a:endParaRPr lang="en-GB" dirty="0"/>
          </a:p>
        </p:txBody>
      </p:sp>
      <p:pic>
        <p:nvPicPr>
          <p:cNvPr id="5" name="Picture 4" descr="A picture containing graphical user interface&#10;&#10;Description automatically generated">
            <a:extLst>
              <a:ext uri="{FF2B5EF4-FFF2-40B4-BE49-F238E27FC236}">
                <a16:creationId xmlns:a16="http://schemas.microsoft.com/office/drawing/2014/main" id="{CC24CE67-17DB-4467-B9A1-E49F15F64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289" y="1844677"/>
            <a:ext cx="7929232" cy="4076430"/>
          </a:xfrm>
          <a:prstGeom prst="rect">
            <a:avLst/>
          </a:prstGeom>
        </p:spPr>
      </p:pic>
    </p:spTree>
    <p:extLst>
      <p:ext uri="{BB962C8B-B14F-4D97-AF65-F5344CB8AC3E}">
        <p14:creationId xmlns:p14="http://schemas.microsoft.com/office/powerpoint/2010/main" val="3994080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A2B4-1754-4483-BEA5-3957E448EF83}"/>
              </a:ext>
            </a:extLst>
          </p:cNvPr>
          <p:cNvSpPr>
            <a:spLocks noGrp="1"/>
          </p:cNvSpPr>
          <p:nvPr>
            <p:ph type="ctrTitle"/>
          </p:nvPr>
        </p:nvSpPr>
        <p:spPr>
          <a:xfrm>
            <a:off x="395535" y="548680"/>
            <a:ext cx="8320625" cy="1152128"/>
          </a:xfrm>
        </p:spPr>
        <p:txBody>
          <a:bodyPr/>
          <a:lstStyle/>
          <a:p>
            <a:r>
              <a:rPr lang="en-GB" dirty="0"/>
              <a:t>Insert two more inductors. We don’t have a wire connecting them. The coils are inductively linked. Click on “Spice Directive” as shown with the arrow.</a:t>
            </a:r>
          </a:p>
        </p:txBody>
      </p:sp>
      <p:sp>
        <p:nvSpPr>
          <p:cNvPr id="3" name="Text Placeholder 2">
            <a:extLst>
              <a:ext uri="{FF2B5EF4-FFF2-40B4-BE49-F238E27FC236}">
                <a16:creationId xmlns:a16="http://schemas.microsoft.com/office/drawing/2014/main" id="{D337FCE6-E8F7-4DEE-98F8-7C4B1D4D91EE}"/>
              </a:ext>
            </a:extLst>
          </p:cNvPr>
          <p:cNvSpPr>
            <a:spLocks noGrp="1"/>
          </p:cNvSpPr>
          <p:nvPr>
            <p:ph type="body" sz="quarter" idx="14"/>
          </p:nvPr>
        </p:nvSpPr>
        <p:spPr/>
        <p:txBody>
          <a:bodyPr/>
          <a:lstStyle/>
          <a:p>
            <a:endParaRPr lang="en-GB" dirty="0"/>
          </a:p>
        </p:txBody>
      </p:sp>
      <p:pic>
        <p:nvPicPr>
          <p:cNvPr id="5" name="Picture 4" descr="Diagram&#10;&#10;Description automatically generated">
            <a:extLst>
              <a:ext uri="{FF2B5EF4-FFF2-40B4-BE49-F238E27FC236}">
                <a16:creationId xmlns:a16="http://schemas.microsoft.com/office/drawing/2014/main" id="{505C1E28-0DED-4452-88F4-A58DF3D05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289" y="1760843"/>
            <a:ext cx="4260599" cy="4548477"/>
          </a:xfrm>
          <a:prstGeom prst="rect">
            <a:avLst/>
          </a:prstGeom>
        </p:spPr>
      </p:pic>
    </p:spTree>
    <p:extLst>
      <p:ext uri="{BB962C8B-B14F-4D97-AF65-F5344CB8AC3E}">
        <p14:creationId xmlns:p14="http://schemas.microsoft.com/office/powerpoint/2010/main" val="2037602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9B893-9DD5-4F5C-9E44-03AC28B962CF}"/>
              </a:ext>
            </a:extLst>
          </p:cNvPr>
          <p:cNvSpPr>
            <a:spLocks noGrp="1"/>
          </p:cNvSpPr>
          <p:nvPr>
            <p:ph type="ctrTitle"/>
          </p:nvPr>
        </p:nvSpPr>
        <p:spPr>
          <a:xfrm>
            <a:off x="395536" y="548680"/>
            <a:ext cx="8597462" cy="1152128"/>
          </a:xfrm>
        </p:spPr>
        <p:txBody>
          <a:bodyPr/>
          <a:lstStyle/>
          <a:p>
            <a:r>
              <a:rPr lang="en-GB" dirty="0"/>
              <a:t>Type “K1” to name the first connection. Followed by the names of the coils to be inductively coupled. Finally the number “1” is to signify ideal coupling.</a:t>
            </a:r>
          </a:p>
        </p:txBody>
      </p:sp>
      <p:sp>
        <p:nvSpPr>
          <p:cNvPr id="3" name="Text Placeholder 2">
            <a:extLst>
              <a:ext uri="{FF2B5EF4-FFF2-40B4-BE49-F238E27FC236}">
                <a16:creationId xmlns:a16="http://schemas.microsoft.com/office/drawing/2014/main" id="{A3C18385-BE59-4901-94F2-9E4FB5B0DDF3}"/>
              </a:ext>
            </a:extLst>
          </p:cNvPr>
          <p:cNvSpPr>
            <a:spLocks noGrp="1"/>
          </p:cNvSpPr>
          <p:nvPr>
            <p:ph type="body" sz="quarter" idx="14"/>
          </p:nvPr>
        </p:nvSpPr>
        <p:spPr/>
        <p:txBody>
          <a:bodyPr/>
          <a:lstStyle/>
          <a:p>
            <a:endParaRPr lang="en-GB" dirty="0"/>
          </a:p>
        </p:txBody>
      </p:sp>
      <p:pic>
        <p:nvPicPr>
          <p:cNvPr id="5" name="Picture 4" descr="Graphical user interface, text, application, email&#10;&#10;Description automatically generated">
            <a:extLst>
              <a:ext uri="{FF2B5EF4-FFF2-40B4-BE49-F238E27FC236}">
                <a16:creationId xmlns:a16="http://schemas.microsoft.com/office/drawing/2014/main" id="{D55D958D-9789-4937-B458-1553C4C2C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995" y="1790471"/>
            <a:ext cx="6154009" cy="3277057"/>
          </a:xfrm>
          <a:prstGeom prst="rect">
            <a:avLst/>
          </a:prstGeom>
        </p:spPr>
      </p:pic>
      <p:sp>
        <p:nvSpPr>
          <p:cNvPr id="6" name="Title 1">
            <a:extLst>
              <a:ext uri="{FF2B5EF4-FFF2-40B4-BE49-F238E27FC236}">
                <a16:creationId xmlns:a16="http://schemas.microsoft.com/office/drawing/2014/main" id="{F55110F9-DF06-4788-B05F-C084BDA613B0}"/>
              </a:ext>
            </a:extLst>
          </p:cNvPr>
          <p:cNvSpPr txBox="1">
            <a:spLocks/>
          </p:cNvSpPr>
          <p:nvPr/>
        </p:nvSpPr>
        <p:spPr>
          <a:xfrm>
            <a:off x="294879" y="5178764"/>
            <a:ext cx="8597462" cy="1152128"/>
          </a:xfrm>
          <a:prstGeom prst="rect">
            <a:avLst/>
          </a:prstGeom>
        </p:spPr>
        <p:txBody>
          <a:bodyPr/>
          <a:lstStyle>
            <a:lvl1pPr algn="l" defTabSz="685800" rtl="0" eaLnBrk="1" latinLnBrk="0" hangingPunct="1">
              <a:lnSpc>
                <a:spcPts val="2625"/>
              </a:lnSpc>
              <a:spcBef>
                <a:spcPct val="0"/>
              </a:spcBef>
              <a:buNone/>
              <a:defRPr sz="2700" kern="1200">
                <a:solidFill>
                  <a:srgbClr val="B5121B"/>
                </a:solidFill>
                <a:latin typeface="+mj-lt"/>
                <a:ea typeface="+mj-ea"/>
                <a:cs typeface="+mj-cs"/>
              </a:defRPr>
            </a:lvl1pPr>
          </a:lstStyle>
          <a:p>
            <a:r>
              <a:rPr lang="en-GB" dirty="0"/>
              <a:t>When putting in the RF Balun type “K2” etc. </a:t>
            </a:r>
          </a:p>
        </p:txBody>
      </p:sp>
    </p:spTree>
    <p:extLst>
      <p:ext uri="{BB962C8B-B14F-4D97-AF65-F5344CB8AC3E}">
        <p14:creationId xmlns:p14="http://schemas.microsoft.com/office/powerpoint/2010/main" val="1463642305"/>
      </p:ext>
    </p:extLst>
  </p:cSld>
  <p:clrMapOvr>
    <a:masterClrMapping/>
  </p:clrMapOvr>
</p:sld>
</file>

<file path=ppt/theme/theme1.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16117</TotalTime>
  <Words>1108</Words>
  <Application>Microsoft Office PowerPoint</Application>
  <PresentationFormat>On-screen Show (4:3)</PresentationFormat>
  <Paragraphs>101</Paragraphs>
  <Slides>24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24</vt:i4>
      </vt:variant>
    </vt:vector>
  </HeadingPairs>
  <TitlesOfParts>
    <vt:vector size="29" baseType="lpstr">
      <vt:lpstr>Arial</vt:lpstr>
      <vt:lpstr>Calibri</vt:lpstr>
      <vt:lpstr>Cambria Math</vt:lpstr>
      <vt:lpstr>Slide 2: Text Only</vt:lpstr>
      <vt:lpstr>1_Office Theme</vt:lpstr>
      <vt:lpstr>CNENGR227 – Electromagnetics, Semiconductors and RF Engineering  Lab 1: Spectrum Analysis</vt:lpstr>
      <vt:lpstr>Learning objectives</vt:lpstr>
      <vt:lpstr>Getting Started in Matlab: After opening Matlab click “New”, and then click on “Script”.</vt:lpstr>
      <vt:lpstr>Notes on Matlab  </vt:lpstr>
      <vt:lpstr>Before running your program for the first time you must save it to the computer hard disk.</vt:lpstr>
      <vt:lpstr>Click the green play button to run the program: The output appears in the command window.</vt:lpstr>
      <vt:lpstr>After running this program the only output is the variable “c”. Put semi-colons “;” after lines of code for which you don’t want the output.</vt:lpstr>
      <vt:lpstr>Multiplication in Matlab</vt:lpstr>
      <vt:lpstr>Plotting a figure in Matlab. Graph of y=x^2 Note the dot before the ^. </vt:lpstr>
      <vt:lpstr>Plotting two figures. Figure 2 is sin(x).</vt:lpstr>
      <vt:lpstr>PowerPoint Presentation</vt:lpstr>
      <vt:lpstr>Switching on grid lines and labelling the axes.</vt:lpstr>
      <vt:lpstr>Adding a command (line 11) to increase the font size.</vt:lpstr>
      <vt:lpstr>Instructions for the Mixer  Task (1)</vt:lpstr>
      <vt:lpstr>Take the Fourier Transform of the three signals generated.</vt:lpstr>
      <vt:lpstr>Some Tips:</vt:lpstr>
      <vt:lpstr>  Task (2)</vt:lpstr>
      <vt:lpstr>Derive the Transfer Functions (Vout/Vin) for the following circuits as a function of frequency: R = 50 Ω, C = 25 pF, L = 0.05 µH</vt:lpstr>
      <vt:lpstr>  Task (3)</vt:lpstr>
      <vt:lpstr>Guidelines on how to present your work: </vt:lpstr>
      <vt:lpstr>Task 4: Ring Diode Mixer</vt:lpstr>
      <vt:lpstr>Open LT Spice – Insert an inductor</vt:lpstr>
      <vt:lpstr>Insert two more inductors. We don’t have a wire connecting them. The coils are inductively linked. Click on “Spice Directive” as shown with the arrow.</vt:lpstr>
      <vt:lpstr>Type “K1” to name the first connection. Followed by the names of the coils to be inductively coupled. Finally the number “1” is to signify ideal coupling.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Graeme Burt</dc:creator>
  <cp:lastModifiedBy>Marks, Harry</cp:lastModifiedBy>
  <cp:revision>158</cp:revision>
  <dcterms:created xsi:type="dcterms:W3CDTF">2015-08-05T18:33:57Z</dcterms:created>
  <dcterms:modified xsi:type="dcterms:W3CDTF">2025-01-28T12:22:02Z</dcterms:modified>
</cp:coreProperties>
</file>